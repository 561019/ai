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3" r:id="rId8"/>
    <p:sldId id="264" r:id="rId9"/>
    <p:sldId id="265" r:id="rId10"/>
    <p:sldId id="266" r:id="rId11"/>
    <p:sldId id="267" r:id="rId12"/>
  </p:sldIdLst>
  <p:sldSz cx="12192000" cy="6858000" type="screen4x3"/>
  <p:notesSz cx="6858000" cy="9144000"/>
  <p:defaultTextStyle>
    <a:defPPr>
      <a:defRPr lang="zh-CN">
        <a:latin typeface="微软雅黑" panose="020B0503020204020204" charset="-122"/>
        <a:ea typeface="微软雅黑" panose="020B0503020204020204" charset="-122"/>
      </a:defRPr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>
          <a:latin typeface="微软雅黑" panose="020B0503020204020204" charset="-122"/>
          <a:ea typeface="微软雅黑" panose="020B0503020204020204" charset="-122"/>
        </a:defRPr>
      </a:lvl1pPr>
    </p:titleStyle>
    <p:bodyStyle>
      <a:lvl1pPr algn="l">
        <a:defRPr sz="1800">
          <a:latin typeface="微软雅黑" panose="020B0503020204020204" charset="-122"/>
          <a:ea typeface="微软雅黑" panose="020B0503020204020204" charset="-122"/>
        </a:defRPr>
      </a:lvl1pPr>
    </p:bodyStyle>
    <p:otherStyle>
      <a:lvl1pPr algn="l">
        <a:defRPr sz="1800">
          <a:latin typeface="微软雅黑" panose="020B0503020204020204" charset="-122"/>
          <a:ea typeface="微软雅黑" panose="020B0503020204020204" charset="-122"/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40.xml"/><Relationship Id="rId23" Type="http://schemas.openxmlformats.org/officeDocument/2006/relationships/tags" Target="../tags/tag39.xml"/><Relationship Id="rId22" Type="http://schemas.openxmlformats.org/officeDocument/2006/relationships/tags" Target="../tags/tag38.xml"/><Relationship Id="rId21" Type="http://schemas.openxmlformats.org/officeDocument/2006/relationships/tags" Target="../tags/tag37.xml"/><Relationship Id="rId20" Type="http://schemas.openxmlformats.org/officeDocument/2006/relationships/tags" Target="../tags/tag36.xml"/><Relationship Id="rId2" Type="http://schemas.openxmlformats.org/officeDocument/2006/relationships/tags" Target="../tags/tag18.xml"/><Relationship Id="rId19" Type="http://schemas.openxmlformats.org/officeDocument/2006/relationships/tags" Target="../tags/tag35.xml"/><Relationship Id="rId18" Type="http://schemas.openxmlformats.org/officeDocument/2006/relationships/tags" Target="../tags/tag34.xml"/><Relationship Id="rId17" Type="http://schemas.openxmlformats.org/officeDocument/2006/relationships/tags" Target="../tags/tag33.xml"/><Relationship Id="rId16" Type="http://schemas.openxmlformats.org/officeDocument/2006/relationships/tags" Target="../tags/tag32.xml"/><Relationship Id="rId15" Type="http://schemas.openxmlformats.org/officeDocument/2006/relationships/tags" Target="../tags/tag31.xml"/><Relationship Id="rId14" Type="http://schemas.openxmlformats.org/officeDocument/2006/relationships/tags" Target="../tags/tag30.xml"/><Relationship Id="rId13" Type="http://schemas.openxmlformats.org/officeDocument/2006/relationships/tags" Target="../tags/tag29.xml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tags" Target="../tags/tag1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49.xml"/><Relationship Id="rId8" Type="http://schemas.openxmlformats.org/officeDocument/2006/relationships/tags" Target="../tags/tag48.xml"/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64.xml"/><Relationship Id="rId23" Type="http://schemas.openxmlformats.org/officeDocument/2006/relationships/tags" Target="../tags/tag63.xml"/><Relationship Id="rId22" Type="http://schemas.openxmlformats.org/officeDocument/2006/relationships/tags" Target="../tags/tag62.xml"/><Relationship Id="rId21" Type="http://schemas.openxmlformats.org/officeDocument/2006/relationships/tags" Target="../tags/tag61.xml"/><Relationship Id="rId20" Type="http://schemas.openxmlformats.org/officeDocument/2006/relationships/tags" Target="../tags/tag60.xml"/><Relationship Id="rId2" Type="http://schemas.openxmlformats.org/officeDocument/2006/relationships/tags" Target="../tags/tag42.xml"/><Relationship Id="rId19" Type="http://schemas.openxmlformats.org/officeDocument/2006/relationships/tags" Target="../tags/tag59.xml"/><Relationship Id="rId18" Type="http://schemas.openxmlformats.org/officeDocument/2006/relationships/tags" Target="../tags/tag58.xml"/><Relationship Id="rId17" Type="http://schemas.openxmlformats.org/officeDocument/2006/relationships/tags" Target="../tags/tag57.xml"/><Relationship Id="rId16" Type="http://schemas.openxmlformats.org/officeDocument/2006/relationships/tags" Target="../tags/tag56.xml"/><Relationship Id="rId15" Type="http://schemas.openxmlformats.org/officeDocument/2006/relationships/tags" Target="../tags/tag55.xml"/><Relationship Id="rId14" Type="http://schemas.openxmlformats.org/officeDocument/2006/relationships/tags" Target="../tags/tag54.xml"/><Relationship Id="rId13" Type="http://schemas.openxmlformats.org/officeDocument/2006/relationships/tags" Target="../tags/tag53.xml"/><Relationship Id="rId12" Type="http://schemas.openxmlformats.org/officeDocument/2006/relationships/tags" Target="../tags/tag52.xml"/><Relationship Id="rId11" Type="http://schemas.openxmlformats.org/officeDocument/2006/relationships/tags" Target="../tags/tag51.xml"/><Relationship Id="rId10" Type="http://schemas.openxmlformats.org/officeDocument/2006/relationships/tags" Target="../tags/tag50.xml"/><Relationship Id="rId1" Type="http://schemas.openxmlformats.org/officeDocument/2006/relationships/tags" Target="../tags/tag4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82.xml"/><Relationship Id="rId17" Type="http://schemas.openxmlformats.org/officeDocument/2006/relationships/tags" Target="../tags/tag81.xml"/><Relationship Id="rId16" Type="http://schemas.openxmlformats.org/officeDocument/2006/relationships/tags" Target="../tags/tag80.xml"/><Relationship Id="rId15" Type="http://schemas.openxmlformats.org/officeDocument/2006/relationships/tags" Target="../tags/tag79.xml"/><Relationship Id="rId14" Type="http://schemas.openxmlformats.org/officeDocument/2006/relationships/tags" Target="../tags/tag78.xml"/><Relationship Id="rId13" Type="http://schemas.openxmlformats.org/officeDocument/2006/relationships/tags" Target="../tags/tag77.xml"/><Relationship Id="rId12" Type="http://schemas.openxmlformats.org/officeDocument/2006/relationships/tags" Target="../tags/tag76.xml"/><Relationship Id="rId11" Type="http://schemas.openxmlformats.org/officeDocument/2006/relationships/tags" Target="../tags/tag75.xml"/><Relationship Id="rId10" Type="http://schemas.openxmlformats.org/officeDocument/2006/relationships/tags" Target="../tags/tag74.xml"/><Relationship Id="rId1" Type="http://schemas.openxmlformats.org/officeDocument/2006/relationships/tags" Target="../tags/tag6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 w="9525">
            <a:solidFill>
              <a:srgbClr val="F4F7F9"/>
            </a:solidFill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C3C"/>
          </a:solidFill>
          <a:ln w="9525">
            <a:solidFill>
              <a:srgbClr val="172C3C"/>
            </a:solidFill>
          </a:ln>
        </p:spPr>
      </p:sp>
      <p:sp>
        <p:nvSpPr>
          <p:cNvPr id="4" name="Shap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9788A"/>
          </a:solidFill>
          <a:ln w="9525">
            <a:solidFill>
              <a:srgbClr val="19788A"/>
            </a:solidFill>
          </a:ln>
        </p:spPr>
      </p:sp>
      <p:sp>
        <p:nvSpPr>
          <p:cNvPr id="5" name="Text 5"/>
          <p:cNvSpPr txBox="1"/>
          <p:nvPr/>
        </p:nvSpPr>
        <p:spPr>
          <a:xfrm>
            <a:off x="777240" y="1325880"/>
            <a:ext cx="8046720" cy="8305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5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自然语言意图分析引擎</a:t>
            </a:r>
            <a:endParaRPr lang="zh-CN" sz="5400"/>
          </a:p>
        </p:txBody>
      </p:sp>
      <p:sp>
        <p:nvSpPr>
          <p:cNvPr id="6" name="Text 6"/>
          <p:cNvSpPr txBox="1"/>
          <p:nvPr/>
        </p:nvSpPr>
        <p:spPr>
          <a:xfrm>
            <a:off x="777367" y="2505710"/>
            <a:ext cx="5669280" cy="4305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2800">
                <a:solidFill>
                  <a:srgbClr val="CFE1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Intent Analysis Engine 项目汇报</a:t>
            </a:r>
            <a:endParaRPr lang="zh-CN" sz="2800"/>
          </a:p>
        </p:txBody>
      </p:sp>
      <p:sp>
        <p:nvSpPr>
          <p:cNvPr id="7" name="Shape 7"/>
          <p:cNvSpPr/>
          <p:nvPr/>
        </p:nvSpPr>
        <p:spPr>
          <a:xfrm>
            <a:off x="804545" y="3285490"/>
            <a:ext cx="3017520" cy="18288"/>
          </a:xfrm>
          <a:prstGeom prst="rect">
            <a:avLst/>
          </a:prstGeom>
          <a:solidFill>
            <a:srgbClr val="D8A23A"/>
          </a:solidFill>
          <a:ln w="9525">
            <a:solidFill>
              <a:srgbClr val="D8A23A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9235440" y="6382512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zh-CN"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2026-07-10</a:t>
            </a:r>
            <a:endParaRPr lang="zh-CN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 w="9525">
            <a:solidFill>
              <a:srgbClr val="F4F7F9"/>
            </a:solidFill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C3C"/>
          </a:solidFill>
          <a:ln w="9525">
            <a:solidFill>
              <a:srgbClr val="172C3C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475488" y="164592"/>
            <a:ext cx="86868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项目定位与边界</a:t>
            </a:r>
            <a:endParaRPr lang="zh-CN" sz="2100"/>
          </a:p>
        </p:txBody>
      </p:sp>
      <p:sp>
        <p:nvSpPr>
          <p:cNvPr id="5" name="Text 5"/>
          <p:cNvSpPr txBox="1"/>
          <p:nvPr/>
        </p:nvSpPr>
        <p:spPr>
          <a:xfrm>
            <a:off x="502920" y="6510528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8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Intent Analysis Engine | 2026-07-10</a:t>
            </a:r>
            <a:endParaRPr lang="zh-CN" sz="800"/>
          </a:p>
        </p:txBody>
      </p:sp>
      <p:sp>
        <p:nvSpPr>
          <p:cNvPr id="7" name="Shape 7"/>
          <p:cNvSpPr/>
          <p:nvPr>
            <p:custDataLst>
              <p:tags r:id="rId1"/>
            </p:custDataLst>
          </p:nvPr>
        </p:nvSpPr>
        <p:spPr>
          <a:xfrm>
            <a:off x="594360" y="1051560"/>
            <a:ext cx="53492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6"/>
            </a:solidFill>
          </a:ln>
        </p:spPr>
      </p:sp>
      <p:sp>
        <p:nvSpPr>
          <p:cNvPr id="8" name="Shape 8"/>
          <p:cNvSpPr/>
          <p:nvPr>
            <p:custDataLst>
              <p:tags r:id="rId2"/>
            </p:custDataLst>
          </p:nvPr>
        </p:nvSpPr>
        <p:spPr>
          <a:xfrm>
            <a:off x="594360" y="1051560"/>
            <a:ext cx="73152" cy="1828800"/>
          </a:xfrm>
          <a:prstGeom prst="rect">
            <a:avLst/>
          </a:prstGeom>
          <a:solidFill>
            <a:srgbClr val="19788A"/>
          </a:solidFill>
          <a:ln w="9525">
            <a:solidFill>
              <a:srgbClr val="19788A"/>
            </a:solidFill>
          </a:ln>
        </p:spPr>
      </p:sp>
      <p:sp>
        <p:nvSpPr>
          <p:cNvPr id="9" name="Text 9"/>
          <p:cNvSpPr txBox="1"/>
          <p:nvPr>
            <p:custDataLst>
              <p:tags r:id="rId3"/>
            </p:custDataLst>
          </p:nvPr>
        </p:nvSpPr>
        <p:spPr>
          <a:xfrm>
            <a:off x="850392" y="1271016"/>
            <a:ext cx="4946904" cy="3689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2400" b="1">
                <a:solidFill>
                  <a:srgbClr val="17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项目定位</a:t>
            </a:r>
            <a:endParaRPr lang="zh-CN" sz="2400"/>
          </a:p>
        </p:txBody>
      </p:sp>
      <p:sp>
        <p:nvSpPr>
          <p:cNvPr id="10" name="Text 10"/>
          <p:cNvSpPr txBox="1"/>
          <p:nvPr>
            <p:custDataLst>
              <p:tags r:id="rId4"/>
            </p:custDataLst>
          </p:nvPr>
        </p:nvSpPr>
        <p:spPr>
          <a:xfrm>
            <a:off x="839597" y="1828927"/>
            <a:ext cx="4946904" cy="7385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6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自然语言意图分析引擎是下游流程管控模块之前的理解层。</a:t>
            </a:r>
            <a:endParaRPr lang="zh-CN" sz="1600"/>
          </a:p>
          <a:p>
            <a:pPr algn="l"/>
            <a:r>
              <a:rPr lang="zh-CN" sz="16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负责把用户请求转为结构化任务，而不是直接执行业务。</a:t>
            </a:r>
            <a:endParaRPr lang="zh-CN" sz="1600"/>
          </a:p>
        </p:txBody>
      </p:sp>
      <p:sp>
        <p:nvSpPr>
          <p:cNvPr id="11" name="Shape 11"/>
          <p:cNvSpPr/>
          <p:nvPr>
            <p:custDataLst>
              <p:tags r:id="rId5"/>
            </p:custDataLst>
          </p:nvPr>
        </p:nvSpPr>
        <p:spPr>
          <a:xfrm>
            <a:off x="6245352" y="1051560"/>
            <a:ext cx="53492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6"/>
            </a:solidFill>
          </a:ln>
        </p:spPr>
      </p:sp>
      <p:sp>
        <p:nvSpPr>
          <p:cNvPr id="12" name="Shape 12"/>
          <p:cNvSpPr/>
          <p:nvPr>
            <p:custDataLst>
              <p:tags r:id="rId6"/>
            </p:custDataLst>
          </p:nvPr>
        </p:nvSpPr>
        <p:spPr>
          <a:xfrm>
            <a:off x="6245352" y="1051560"/>
            <a:ext cx="73152" cy="1828800"/>
          </a:xfrm>
          <a:prstGeom prst="rect">
            <a:avLst/>
          </a:prstGeom>
          <a:solidFill>
            <a:srgbClr val="B84A3A"/>
          </a:solidFill>
          <a:ln w="9525">
            <a:solidFill>
              <a:srgbClr val="B84A3A"/>
            </a:solidFill>
          </a:ln>
        </p:spPr>
      </p:sp>
      <p:sp>
        <p:nvSpPr>
          <p:cNvPr id="13" name="Text 13"/>
          <p:cNvSpPr txBox="1"/>
          <p:nvPr>
            <p:custDataLst>
              <p:tags r:id="rId7"/>
            </p:custDataLst>
          </p:nvPr>
        </p:nvSpPr>
        <p:spPr>
          <a:xfrm>
            <a:off x="6501384" y="1271016"/>
            <a:ext cx="4946904" cy="3689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2400" b="1">
                <a:solidFill>
                  <a:srgbClr val="17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严格边界</a:t>
            </a:r>
            <a:endParaRPr lang="zh-CN" sz="2400" b="1">
              <a:solidFill>
                <a:srgbClr val="1720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 14"/>
          <p:cNvSpPr txBox="1"/>
          <p:nvPr>
            <p:custDataLst>
              <p:tags r:id="rId8"/>
            </p:custDataLst>
          </p:nvPr>
        </p:nvSpPr>
        <p:spPr>
          <a:xfrm>
            <a:off x="6501384" y="1673352"/>
            <a:ext cx="4946904" cy="492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6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不开发、不调用业务执行引擎；不查询真实业务数据；不执行计算、文件处理或流程动作。</a:t>
            </a:r>
            <a:endParaRPr lang="zh-CN" sz="1600">
              <a:solidFill>
                <a:srgbClr val="6070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Shape 15"/>
          <p:cNvSpPr/>
          <p:nvPr>
            <p:custDataLst>
              <p:tags r:id="rId9"/>
            </p:custDataLst>
          </p:nvPr>
        </p:nvSpPr>
        <p:spPr>
          <a:xfrm>
            <a:off x="594360" y="3246120"/>
            <a:ext cx="53492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6"/>
            </a:solidFill>
          </a:ln>
        </p:spPr>
      </p:sp>
      <p:sp>
        <p:nvSpPr>
          <p:cNvPr id="16" name="Shape 16"/>
          <p:cNvSpPr/>
          <p:nvPr>
            <p:custDataLst>
              <p:tags r:id="rId10"/>
            </p:custDataLst>
          </p:nvPr>
        </p:nvSpPr>
        <p:spPr>
          <a:xfrm>
            <a:off x="594360" y="3246120"/>
            <a:ext cx="73152" cy="1828800"/>
          </a:xfrm>
          <a:prstGeom prst="rect">
            <a:avLst/>
          </a:prstGeom>
          <a:solidFill>
            <a:srgbClr val="D8A23A"/>
          </a:solidFill>
          <a:ln w="9525">
            <a:solidFill>
              <a:srgbClr val="D8A23A"/>
            </a:solidFill>
          </a:ln>
        </p:spPr>
      </p:sp>
      <p:sp>
        <p:nvSpPr>
          <p:cNvPr id="17" name="Text 17"/>
          <p:cNvSpPr txBox="1"/>
          <p:nvPr>
            <p:custDataLst>
              <p:tags r:id="rId11"/>
            </p:custDataLst>
          </p:nvPr>
        </p:nvSpPr>
        <p:spPr>
          <a:xfrm>
            <a:off x="850392" y="3465576"/>
            <a:ext cx="4946904" cy="3689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2400" b="1">
                <a:solidFill>
                  <a:srgbClr val="17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输出对象</a:t>
            </a:r>
            <a:endParaRPr lang="zh-CN" sz="2400" b="1">
              <a:solidFill>
                <a:srgbClr val="1720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 18"/>
          <p:cNvSpPr txBox="1"/>
          <p:nvPr>
            <p:custDataLst>
              <p:tags r:id="rId12"/>
            </p:custDataLst>
          </p:nvPr>
        </p:nvSpPr>
        <p:spPr>
          <a:xfrm>
            <a:off x="850392" y="3867912"/>
            <a:ext cx="4946904" cy="492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6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统一输出 IntentAnalysisResult / TaskList。</a:t>
            </a:r>
            <a:endParaRPr lang="zh-CN" sz="1600"/>
          </a:p>
          <a:p>
            <a:pPr algn="l"/>
            <a:r>
              <a:rPr lang="zh-CN" sz="16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下游模块不需要再次解析用户原始文本。</a:t>
            </a:r>
            <a:endParaRPr lang="zh-CN" sz="1600"/>
          </a:p>
        </p:txBody>
      </p:sp>
      <p:sp>
        <p:nvSpPr>
          <p:cNvPr id="19" name="Shape 19"/>
          <p:cNvSpPr/>
          <p:nvPr>
            <p:custDataLst>
              <p:tags r:id="rId13"/>
            </p:custDataLst>
          </p:nvPr>
        </p:nvSpPr>
        <p:spPr>
          <a:xfrm>
            <a:off x="6245352" y="3246120"/>
            <a:ext cx="53492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6"/>
            </a:solidFill>
          </a:ln>
        </p:spPr>
      </p:sp>
      <p:sp>
        <p:nvSpPr>
          <p:cNvPr id="20" name="Shape 20"/>
          <p:cNvSpPr/>
          <p:nvPr>
            <p:custDataLst>
              <p:tags r:id="rId14"/>
            </p:custDataLst>
          </p:nvPr>
        </p:nvSpPr>
        <p:spPr>
          <a:xfrm>
            <a:off x="6245352" y="3246120"/>
            <a:ext cx="73152" cy="1828800"/>
          </a:xfrm>
          <a:prstGeom prst="rect">
            <a:avLst/>
          </a:prstGeom>
          <a:solidFill>
            <a:srgbClr val="1E8A5A"/>
          </a:solidFill>
          <a:ln w="9525">
            <a:solidFill>
              <a:srgbClr val="1E8A5A"/>
            </a:solidFill>
          </a:ln>
        </p:spPr>
      </p:sp>
      <p:sp>
        <p:nvSpPr>
          <p:cNvPr id="21" name="Text 21"/>
          <p:cNvSpPr txBox="1"/>
          <p:nvPr>
            <p:custDataLst>
              <p:tags r:id="rId15"/>
            </p:custDataLst>
          </p:nvPr>
        </p:nvSpPr>
        <p:spPr>
          <a:xfrm>
            <a:off x="6501384" y="3465576"/>
            <a:ext cx="4946904" cy="3689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2400" b="1">
                <a:solidFill>
                  <a:srgbClr val="17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核心原则</a:t>
            </a:r>
            <a:endParaRPr lang="zh-CN" sz="2400" b="1">
              <a:solidFill>
                <a:srgbClr val="1720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 22"/>
          <p:cNvSpPr txBox="1"/>
          <p:nvPr>
            <p:custDataLst>
              <p:tags r:id="rId16"/>
            </p:custDataLst>
          </p:nvPr>
        </p:nvSpPr>
        <p:spPr>
          <a:xfrm>
            <a:off x="6501384" y="3867912"/>
            <a:ext cx="4946904" cy="7385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6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确定性优先、语义增强、LLM 兜底。</a:t>
            </a:r>
            <a:endParaRPr lang="zh-CN" sz="1600"/>
          </a:p>
          <a:p>
            <a:pPr algn="l"/>
            <a:r>
              <a:rPr lang="zh-CN" sz="16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所有路径最终都经过输入校验，不默认、不补全、不猜测。</a:t>
            </a:r>
            <a:endParaRPr lang="zh-CN"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 w="9525">
            <a:solidFill>
              <a:srgbClr val="F4F7F9"/>
            </a:solidFill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C3C"/>
          </a:solidFill>
          <a:ln w="9525">
            <a:solidFill>
              <a:srgbClr val="172C3C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475488" y="164592"/>
            <a:ext cx="86868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建设目标</a:t>
            </a:r>
            <a:endParaRPr lang="zh-CN" sz="2100"/>
          </a:p>
        </p:txBody>
      </p:sp>
      <p:sp>
        <p:nvSpPr>
          <p:cNvPr id="5" name="Text 5"/>
          <p:cNvSpPr txBox="1"/>
          <p:nvPr/>
        </p:nvSpPr>
        <p:spPr>
          <a:xfrm>
            <a:off x="502920" y="6510528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8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Intent Analysis Engine | 2026-07-10</a:t>
            </a:r>
            <a:endParaRPr lang="zh-CN" sz="800"/>
          </a:p>
        </p:txBody>
      </p:sp>
      <p:sp>
        <p:nvSpPr>
          <p:cNvPr id="7" name="Shape 7"/>
          <p:cNvSpPr/>
          <p:nvPr>
            <p:custDataLst>
              <p:tags r:id="rId1"/>
            </p:custDataLst>
          </p:nvPr>
        </p:nvSpPr>
        <p:spPr>
          <a:xfrm>
            <a:off x="502920" y="960120"/>
            <a:ext cx="3611880" cy="14447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6"/>
            </a:solidFill>
          </a:ln>
        </p:spPr>
      </p:sp>
      <p:sp>
        <p:nvSpPr>
          <p:cNvPr id="8" name="Shape 8"/>
          <p:cNvSpPr/>
          <p:nvPr>
            <p:custDataLst>
              <p:tags r:id="rId2"/>
            </p:custDataLst>
          </p:nvPr>
        </p:nvSpPr>
        <p:spPr>
          <a:xfrm>
            <a:off x="502920" y="960120"/>
            <a:ext cx="73152" cy="1444752"/>
          </a:xfrm>
          <a:prstGeom prst="rect">
            <a:avLst/>
          </a:prstGeom>
          <a:solidFill>
            <a:srgbClr val="19788A"/>
          </a:solidFill>
          <a:ln w="9525">
            <a:solidFill>
              <a:srgbClr val="19788A"/>
            </a:solidFill>
          </a:ln>
        </p:spPr>
      </p:sp>
      <p:sp>
        <p:nvSpPr>
          <p:cNvPr id="9" name="Text 9"/>
          <p:cNvSpPr txBox="1"/>
          <p:nvPr>
            <p:custDataLst>
              <p:tags r:id="rId3"/>
            </p:custDataLst>
          </p:nvPr>
        </p:nvSpPr>
        <p:spPr>
          <a:xfrm>
            <a:off x="758952" y="1179576"/>
            <a:ext cx="3209544" cy="3073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2000" b="1">
                <a:solidFill>
                  <a:srgbClr val="17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 1：理解用户请求</a:t>
            </a:r>
            <a:endParaRPr lang="zh-CN" sz="2000" b="1">
              <a:solidFill>
                <a:srgbClr val="1720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 10"/>
          <p:cNvSpPr txBox="1"/>
          <p:nvPr>
            <p:custDataLst>
              <p:tags r:id="rId4"/>
            </p:custDataLst>
          </p:nvPr>
        </p:nvSpPr>
        <p:spPr>
          <a:xfrm>
            <a:off x="758952" y="1581912"/>
            <a:ext cx="3209544" cy="7385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6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识别用户要做什么，判断属于查询、统计、计算、分析、问答、内容生成、流程等哪类任务。</a:t>
            </a:r>
            <a:endParaRPr lang="zh-CN" sz="1600">
              <a:solidFill>
                <a:srgbClr val="6070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hape 11"/>
          <p:cNvSpPr/>
          <p:nvPr>
            <p:custDataLst>
              <p:tags r:id="rId5"/>
            </p:custDataLst>
          </p:nvPr>
        </p:nvSpPr>
        <p:spPr>
          <a:xfrm>
            <a:off x="4297680" y="960120"/>
            <a:ext cx="3611880" cy="14447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6"/>
            </a:solidFill>
          </a:ln>
        </p:spPr>
      </p:sp>
      <p:sp>
        <p:nvSpPr>
          <p:cNvPr id="12" name="Shape 12"/>
          <p:cNvSpPr/>
          <p:nvPr>
            <p:custDataLst>
              <p:tags r:id="rId6"/>
            </p:custDataLst>
          </p:nvPr>
        </p:nvSpPr>
        <p:spPr>
          <a:xfrm>
            <a:off x="4297680" y="960120"/>
            <a:ext cx="73152" cy="1444752"/>
          </a:xfrm>
          <a:prstGeom prst="rect">
            <a:avLst/>
          </a:prstGeom>
          <a:solidFill>
            <a:srgbClr val="19788A"/>
          </a:solidFill>
          <a:ln w="9525">
            <a:solidFill>
              <a:srgbClr val="19788A"/>
            </a:solidFill>
          </a:ln>
        </p:spPr>
      </p:sp>
      <p:sp>
        <p:nvSpPr>
          <p:cNvPr id="13" name="Text 13"/>
          <p:cNvSpPr txBox="1"/>
          <p:nvPr>
            <p:custDataLst>
              <p:tags r:id="rId7"/>
            </p:custDataLst>
          </p:nvPr>
        </p:nvSpPr>
        <p:spPr>
          <a:xfrm>
            <a:off x="4553712" y="1179576"/>
            <a:ext cx="3209544" cy="3073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2000" b="1">
                <a:solidFill>
                  <a:srgbClr val="17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 2：拆解多动作任务</a:t>
            </a:r>
            <a:endParaRPr lang="zh-CN" sz="2000" b="1">
              <a:solidFill>
                <a:srgbClr val="1720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 14"/>
          <p:cNvSpPr txBox="1"/>
          <p:nvPr>
            <p:custDataLst>
              <p:tags r:id="rId8"/>
            </p:custDataLst>
          </p:nvPr>
        </p:nvSpPr>
        <p:spPr>
          <a:xfrm>
            <a:off x="4499102" y="1628902"/>
            <a:ext cx="3209544" cy="492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6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把复合表达拆成多个有顺序、有依赖的标准任务。</a:t>
            </a:r>
            <a:endParaRPr lang="zh-CN" sz="1600">
              <a:solidFill>
                <a:srgbClr val="6070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Shape 15"/>
          <p:cNvSpPr/>
          <p:nvPr>
            <p:custDataLst>
              <p:tags r:id="rId9"/>
            </p:custDataLst>
          </p:nvPr>
        </p:nvSpPr>
        <p:spPr>
          <a:xfrm>
            <a:off x="8092440" y="960120"/>
            <a:ext cx="3611880" cy="14447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6"/>
            </a:solidFill>
          </a:ln>
        </p:spPr>
      </p:sp>
      <p:sp>
        <p:nvSpPr>
          <p:cNvPr id="16" name="Shape 16"/>
          <p:cNvSpPr/>
          <p:nvPr>
            <p:custDataLst>
              <p:tags r:id="rId10"/>
            </p:custDataLst>
          </p:nvPr>
        </p:nvSpPr>
        <p:spPr>
          <a:xfrm>
            <a:off x="8092440" y="960120"/>
            <a:ext cx="73152" cy="1444752"/>
          </a:xfrm>
          <a:prstGeom prst="rect">
            <a:avLst/>
          </a:prstGeom>
          <a:solidFill>
            <a:srgbClr val="19788A"/>
          </a:solidFill>
          <a:ln w="9525">
            <a:solidFill>
              <a:srgbClr val="19788A"/>
            </a:solidFill>
          </a:ln>
        </p:spPr>
      </p:sp>
      <p:sp>
        <p:nvSpPr>
          <p:cNvPr id="17" name="Text 17"/>
          <p:cNvSpPr txBox="1"/>
          <p:nvPr>
            <p:custDataLst>
              <p:tags r:id="rId11"/>
            </p:custDataLst>
          </p:nvPr>
        </p:nvSpPr>
        <p:spPr>
          <a:xfrm>
            <a:off x="8348472" y="1179576"/>
            <a:ext cx="3209544" cy="3073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2000" b="1">
                <a:solidFill>
                  <a:srgbClr val="17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 3：选择目标引擎</a:t>
            </a:r>
            <a:endParaRPr lang="zh-CN" sz="2000" b="1">
              <a:solidFill>
                <a:srgbClr val="1720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 18"/>
          <p:cNvSpPr txBox="1"/>
          <p:nvPr>
            <p:custDataLst>
              <p:tags r:id="rId12"/>
            </p:custDataLst>
          </p:nvPr>
        </p:nvSpPr>
        <p:spPr>
          <a:xfrm>
            <a:off x="8348472" y="1581912"/>
            <a:ext cx="3209544" cy="492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6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只输出 engine_code 作为路由标识，不在本项目内调用业务引擎。</a:t>
            </a:r>
            <a:endParaRPr lang="zh-CN" sz="1600">
              <a:solidFill>
                <a:srgbClr val="6070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Shape 19"/>
          <p:cNvSpPr/>
          <p:nvPr>
            <p:custDataLst>
              <p:tags r:id="rId13"/>
            </p:custDataLst>
          </p:nvPr>
        </p:nvSpPr>
        <p:spPr>
          <a:xfrm>
            <a:off x="502920" y="2788920"/>
            <a:ext cx="3611880" cy="14447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6"/>
            </a:solidFill>
          </a:ln>
        </p:spPr>
      </p:sp>
      <p:sp>
        <p:nvSpPr>
          <p:cNvPr id="20" name="Shape 20"/>
          <p:cNvSpPr/>
          <p:nvPr>
            <p:custDataLst>
              <p:tags r:id="rId14"/>
            </p:custDataLst>
          </p:nvPr>
        </p:nvSpPr>
        <p:spPr>
          <a:xfrm>
            <a:off x="502920" y="2788920"/>
            <a:ext cx="73152" cy="1444752"/>
          </a:xfrm>
          <a:prstGeom prst="rect">
            <a:avLst/>
          </a:prstGeom>
          <a:solidFill>
            <a:srgbClr val="D8A23A"/>
          </a:solidFill>
          <a:ln w="9525">
            <a:solidFill>
              <a:srgbClr val="D8A23A"/>
            </a:solidFill>
          </a:ln>
        </p:spPr>
      </p:sp>
      <p:sp>
        <p:nvSpPr>
          <p:cNvPr id="21" name="Text 21"/>
          <p:cNvSpPr txBox="1"/>
          <p:nvPr>
            <p:custDataLst>
              <p:tags r:id="rId15"/>
            </p:custDataLst>
          </p:nvPr>
        </p:nvSpPr>
        <p:spPr>
          <a:xfrm>
            <a:off x="758952" y="3008376"/>
            <a:ext cx="3209544" cy="3073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2000" b="1">
                <a:solidFill>
                  <a:srgbClr val="17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 4：校验输入完整性</a:t>
            </a:r>
            <a:endParaRPr lang="zh-CN" sz="2000" b="1">
              <a:solidFill>
                <a:srgbClr val="1720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 22"/>
          <p:cNvSpPr txBox="1"/>
          <p:nvPr>
            <p:custDataLst>
              <p:tags r:id="rId16"/>
            </p:custDataLst>
          </p:nvPr>
        </p:nvSpPr>
        <p:spPr>
          <a:xfrm>
            <a:off x="759587" y="3316097"/>
            <a:ext cx="3209544" cy="7385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6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 task_type 检查 required_inputs，缺失则生成澄清问题。</a:t>
            </a:r>
            <a:endParaRPr lang="zh-CN" sz="1600">
              <a:solidFill>
                <a:srgbClr val="6070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Shape 23"/>
          <p:cNvSpPr/>
          <p:nvPr>
            <p:custDataLst>
              <p:tags r:id="rId17"/>
            </p:custDataLst>
          </p:nvPr>
        </p:nvSpPr>
        <p:spPr>
          <a:xfrm>
            <a:off x="4297680" y="2788920"/>
            <a:ext cx="3611880" cy="14447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6"/>
            </a:solidFill>
          </a:ln>
        </p:spPr>
      </p:sp>
      <p:sp>
        <p:nvSpPr>
          <p:cNvPr id="24" name="Shape 24"/>
          <p:cNvSpPr/>
          <p:nvPr>
            <p:custDataLst>
              <p:tags r:id="rId18"/>
            </p:custDataLst>
          </p:nvPr>
        </p:nvSpPr>
        <p:spPr>
          <a:xfrm>
            <a:off x="4297680" y="2788920"/>
            <a:ext cx="73152" cy="1444752"/>
          </a:xfrm>
          <a:prstGeom prst="rect">
            <a:avLst/>
          </a:prstGeom>
          <a:solidFill>
            <a:srgbClr val="D8A23A"/>
          </a:solidFill>
          <a:ln w="9525">
            <a:solidFill>
              <a:srgbClr val="D8A23A"/>
            </a:solidFill>
          </a:ln>
        </p:spPr>
      </p:sp>
      <p:sp>
        <p:nvSpPr>
          <p:cNvPr id="25" name="Text 25"/>
          <p:cNvSpPr txBox="1"/>
          <p:nvPr>
            <p:custDataLst>
              <p:tags r:id="rId19"/>
            </p:custDataLst>
          </p:nvPr>
        </p:nvSpPr>
        <p:spPr>
          <a:xfrm>
            <a:off x="4553712" y="3008376"/>
            <a:ext cx="3209544" cy="3073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2000" b="1">
                <a:solidFill>
                  <a:srgbClr val="17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 5：保持输出契约</a:t>
            </a:r>
            <a:endParaRPr lang="zh-CN" sz="2000" b="1">
              <a:solidFill>
                <a:srgbClr val="1720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 26"/>
          <p:cNvSpPr txBox="1"/>
          <p:nvPr>
            <p:custDataLst>
              <p:tags r:id="rId20"/>
            </p:custDataLst>
          </p:nvPr>
        </p:nvSpPr>
        <p:spPr>
          <a:xfrm>
            <a:off x="4553712" y="3410712"/>
            <a:ext cx="3209544" cy="7385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6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所有识别来源统一进入 Task Builder 与 Input Validator，最终输出标准 TaskList。</a:t>
            </a:r>
            <a:endParaRPr lang="zh-CN" sz="1600">
              <a:solidFill>
                <a:srgbClr val="6070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Shape 27"/>
          <p:cNvSpPr/>
          <p:nvPr>
            <p:custDataLst>
              <p:tags r:id="rId21"/>
            </p:custDataLst>
          </p:nvPr>
        </p:nvSpPr>
        <p:spPr>
          <a:xfrm>
            <a:off x="8092440" y="2788920"/>
            <a:ext cx="3611880" cy="14447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6"/>
            </a:solidFill>
          </a:ln>
        </p:spPr>
      </p:sp>
      <p:sp>
        <p:nvSpPr>
          <p:cNvPr id="28" name="Shape 28"/>
          <p:cNvSpPr/>
          <p:nvPr>
            <p:custDataLst>
              <p:tags r:id="rId22"/>
            </p:custDataLst>
          </p:nvPr>
        </p:nvSpPr>
        <p:spPr>
          <a:xfrm>
            <a:off x="8092440" y="2788920"/>
            <a:ext cx="73152" cy="1444752"/>
          </a:xfrm>
          <a:prstGeom prst="rect">
            <a:avLst/>
          </a:prstGeom>
          <a:solidFill>
            <a:srgbClr val="D8A23A"/>
          </a:solidFill>
          <a:ln w="9525">
            <a:solidFill>
              <a:srgbClr val="D8A23A"/>
            </a:solidFill>
          </a:ln>
        </p:spPr>
      </p:sp>
      <p:sp>
        <p:nvSpPr>
          <p:cNvPr id="29" name="Text 29"/>
          <p:cNvSpPr txBox="1"/>
          <p:nvPr>
            <p:custDataLst>
              <p:tags r:id="rId23"/>
            </p:custDataLst>
          </p:nvPr>
        </p:nvSpPr>
        <p:spPr>
          <a:xfrm>
            <a:off x="8348472" y="3008376"/>
            <a:ext cx="3209544" cy="3073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2000" b="1">
                <a:solidFill>
                  <a:srgbClr val="17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 6：支持持续评测</a:t>
            </a:r>
            <a:endParaRPr lang="zh-CN" sz="2000" b="1">
              <a:solidFill>
                <a:srgbClr val="1720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 30"/>
          <p:cNvSpPr txBox="1"/>
          <p:nvPr>
            <p:custDataLst>
              <p:tags r:id="rId24"/>
            </p:custDataLst>
          </p:nvPr>
        </p:nvSpPr>
        <p:spPr>
          <a:xfrm>
            <a:off x="8348472" y="3410712"/>
            <a:ext cx="3209544" cy="492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6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用标准评测集验证规则、语义、拆解、澄清和引擎选择准确率。</a:t>
            </a:r>
            <a:endParaRPr lang="zh-CN" sz="1600">
              <a:solidFill>
                <a:srgbClr val="6070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 w="9525">
            <a:solidFill>
              <a:srgbClr val="F4F7F9"/>
            </a:solidFill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C3C"/>
          </a:solidFill>
          <a:ln w="9525">
            <a:solidFill>
              <a:srgbClr val="172C3C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475488" y="164592"/>
            <a:ext cx="86868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核心建设任务</a:t>
            </a:r>
            <a:endParaRPr lang="zh-CN" sz="2100"/>
          </a:p>
        </p:txBody>
      </p:sp>
      <p:sp>
        <p:nvSpPr>
          <p:cNvPr id="5" name="Text 5"/>
          <p:cNvSpPr txBox="1"/>
          <p:nvPr/>
        </p:nvSpPr>
        <p:spPr>
          <a:xfrm>
            <a:off x="502920" y="6510528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8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Intent Analysis Engine | 2026-07-10</a:t>
            </a:r>
            <a:endParaRPr lang="zh-CN" sz="800"/>
          </a:p>
        </p:txBody>
      </p:sp>
      <p:sp>
        <p:nvSpPr>
          <p:cNvPr id="7" name="Shape 7"/>
          <p:cNvSpPr/>
          <p:nvPr>
            <p:custDataLst>
              <p:tags r:id="rId1"/>
            </p:custDataLst>
          </p:nvPr>
        </p:nvSpPr>
        <p:spPr>
          <a:xfrm>
            <a:off x="566928" y="941832"/>
            <a:ext cx="5349240" cy="12070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6"/>
            </a:solidFill>
          </a:ln>
        </p:spPr>
      </p:sp>
      <p:sp>
        <p:nvSpPr>
          <p:cNvPr id="8" name="Text 8"/>
          <p:cNvSpPr txBox="1"/>
          <p:nvPr>
            <p:custDataLst>
              <p:tags r:id="rId2"/>
            </p:custDataLst>
          </p:nvPr>
        </p:nvSpPr>
        <p:spPr>
          <a:xfrm>
            <a:off x="795528" y="1252728"/>
            <a:ext cx="51206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1800" b="1">
                <a:solidFill>
                  <a:srgbClr val="1978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lang="zh-CN" sz="1800"/>
          </a:p>
        </p:txBody>
      </p:sp>
      <p:sp>
        <p:nvSpPr>
          <p:cNvPr id="9" name="Text 9"/>
          <p:cNvSpPr txBox="1"/>
          <p:nvPr>
            <p:custDataLst>
              <p:tags r:id="rId3"/>
            </p:custDataLst>
          </p:nvPr>
        </p:nvSpPr>
        <p:spPr>
          <a:xfrm>
            <a:off x="1481328" y="1161288"/>
            <a:ext cx="4160520" cy="3073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2000" b="1">
                <a:solidFill>
                  <a:srgbClr val="17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规则匹配优化</a:t>
            </a:r>
            <a:endParaRPr lang="zh-CN" sz="2000" b="1">
              <a:solidFill>
                <a:srgbClr val="1720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 10"/>
          <p:cNvSpPr txBox="1"/>
          <p:nvPr>
            <p:custDataLst>
              <p:tags r:id="rId4"/>
            </p:custDataLst>
          </p:nvPr>
        </p:nvSpPr>
        <p:spPr>
          <a:xfrm>
            <a:off x="1481328" y="1508760"/>
            <a:ext cx="4069080" cy="492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6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增加 rule_priority，明确高精度业务动作规则优先。</a:t>
            </a:r>
            <a:endParaRPr lang="zh-CN" sz="1600">
              <a:solidFill>
                <a:srgbClr val="6070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hape 11"/>
          <p:cNvSpPr/>
          <p:nvPr>
            <p:custDataLst>
              <p:tags r:id="rId5"/>
            </p:custDataLst>
          </p:nvPr>
        </p:nvSpPr>
        <p:spPr>
          <a:xfrm>
            <a:off x="6281928" y="941832"/>
            <a:ext cx="5349240" cy="12070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6"/>
            </a:solidFill>
          </a:ln>
        </p:spPr>
      </p:sp>
      <p:sp>
        <p:nvSpPr>
          <p:cNvPr id="12" name="Text 12"/>
          <p:cNvSpPr txBox="1"/>
          <p:nvPr>
            <p:custDataLst>
              <p:tags r:id="rId6"/>
            </p:custDataLst>
          </p:nvPr>
        </p:nvSpPr>
        <p:spPr>
          <a:xfrm>
            <a:off x="6510528" y="1252728"/>
            <a:ext cx="51206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1800" b="1">
                <a:solidFill>
                  <a:srgbClr val="1978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lang="zh-CN" sz="1800"/>
          </a:p>
        </p:txBody>
      </p:sp>
      <p:sp>
        <p:nvSpPr>
          <p:cNvPr id="13" name="Text 13"/>
          <p:cNvSpPr txBox="1"/>
          <p:nvPr>
            <p:custDataLst>
              <p:tags r:id="rId7"/>
            </p:custDataLst>
          </p:nvPr>
        </p:nvSpPr>
        <p:spPr>
          <a:xfrm>
            <a:off x="7196328" y="1161288"/>
            <a:ext cx="4160520" cy="3073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2000" b="1">
                <a:solidFill>
                  <a:srgbClr val="17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BGE 语义匹配</a:t>
            </a:r>
            <a:endParaRPr lang="zh-CN" sz="2000" b="1">
              <a:solidFill>
                <a:srgbClr val="1720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 14"/>
          <p:cNvSpPr txBox="1"/>
          <p:nvPr>
            <p:custDataLst>
              <p:tags r:id="rId8"/>
            </p:custDataLst>
          </p:nvPr>
        </p:nvSpPr>
        <p:spPr>
          <a:xfrm>
            <a:off x="7196328" y="1508760"/>
            <a:ext cx="4069080" cy="492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6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接入 BAAI/bge-base-zh-v1.5 与 Milvus 能力向量库。</a:t>
            </a:r>
            <a:endParaRPr lang="zh-CN" sz="1600">
              <a:solidFill>
                <a:srgbClr val="6070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Shape 15"/>
          <p:cNvSpPr/>
          <p:nvPr>
            <p:custDataLst>
              <p:tags r:id="rId9"/>
            </p:custDataLst>
          </p:nvPr>
        </p:nvSpPr>
        <p:spPr>
          <a:xfrm>
            <a:off x="566928" y="2514600"/>
            <a:ext cx="5349240" cy="12070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6"/>
            </a:solidFill>
          </a:ln>
        </p:spPr>
      </p:sp>
      <p:sp>
        <p:nvSpPr>
          <p:cNvPr id="16" name="Text 16"/>
          <p:cNvSpPr txBox="1"/>
          <p:nvPr>
            <p:custDataLst>
              <p:tags r:id="rId10"/>
            </p:custDataLst>
          </p:nvPr>
        </p:nvSpPr>
        <p:spPr>
          <a:xfrm>
            <a:off x="795528" y="2825496"/>
            <a:ext cx="51206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1800" b="1">
                <a:solidFill>
                  <a:srgbClr val="1978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lang="zh-CN" sz="1800"/>
          </a:p>
        </p:txBody>
      </p:sp>
      <p:sp>
        <p:nvSpPr>
          <p:cNvPr id="17" name="Text 17"/>
          <p:cNvSpPr txBox="1"/>
          <p:nvPr>
            <p:custDataLst>
              <p:tags r:id="rId11"/>
            </p:custDataLst>
          </p:nvPr>
        </p:nvSpPr>
        <p:spPr>
          <a:xfrm>
            <a:off x="1481328" y="2734056"/>
            <a:ext cx="4160520" cy="3073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2000" b="1">
                <a:solidFill>
                  <a:srgbClr val="17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输入校验层</a:t>
            </a:r>
            <a:endParaRPr lang="zh-CN" sz="2000" b="1">
              <a:solidFill>
                <a:srgbClr val="1720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 18"/>
          <p:cNvSpPr txBox="1"/>
          <p:nvPr>
            <p:custDataLst>
              <p:tags r:id="rId12"/>
            </p:custDataLst>
          </p:nvPr>
        </p:nvSpPr>
        <p:spPr>
          <a:xfrm>
            <a:off x="1481328" y="3081528"/>
            <a:ext cx="4069080" cy="492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6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 Task Input Validator，统一检查 required_inputs。</a:t>
            </a:r>
            <a:endParaRPr lang="zh-CN" sz="1600">
              <a:solidFill>
                <a:srgbClr val="6070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Shape 19"/>
          <p:cNvSpPr/>
          <p:nvPr>
            <p:custDataLst>
              <p:tags r:id="rId13"/>
            </p:custDataLst>
          </p:nvPr>
        </p:nvSpPr>
        <p:spPr>
          <a:xfrm>
            <a:off x="6281928" y="2514600"/>
            <a:ext cx="5349240" cy="12070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6"/>
            </a:solidFill>
          </a:ln>
        </p:spPr>
      </p:sp>
      <p:sp>
        <p:nvSpPr>
          <p:cNvPr id="20" name="Text 20"/>
          <p:cNvSpPr txBox="1"/>
          <p:nvPr>
            <p:custDataLst>
              <p:tags r:id="rId14"/>
            </p:custDataLst>
          </p:nvPr>
        </p:nvSpPr>
        <p:spPr>
          <a:xfrm>
            <a:off x="6510528" y="2825496"/>
            <a:ext cx="51206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1800" b="1">
                <a:solidFill>
                  <a:srgbClr val="1978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lang="zh-CN" sz="1800"/>
          </a:p>
        </p:txBody>
      </p:sp>
      <p:sp>
        <p:nvSpPr>
          <p:cNvPr id="21" name="Text 21"/>
          <p:cNvSpPr txBox="1"/>
          <p:nvPr>
            <p:custDataLst>
              <p:tags r:id="rId15"/>
            </p:custDataLst>
          </p:nvPr>
        </p:nvSpPr>
        <p:spPr>
          <a:xfrm>
            <a:off x="7196328" y="2734056"/>
            <a:ext cx="4160520" cy="3073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2000" b="1">
                <a:solidFill>
                  <a:srgbClr val="17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能力库配置化</a:t>
            </a:r>
            <a:endParaRPr lang="zh-CN" sz="2000" b="1">
              <a:solidFill>
                <a:srgbClr val="1720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 22"/>
          <p:cNvSpPr txBox="1"/>
          <p:nvPr>
            <p:custDataLst>
              <p:tags r:id="rId16"/>
            </p:custDataLst>
          </p:nvPr>
        </p:nvSpPr>
        <p:spPr>
          <a:xfrm>
            <a:off x="7196328" y="3081528"/>
            <a:ext cx="4069080" cy="492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6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semantic_capabilities.yaml 管理描述、样例、关键词、必填项。</a:t>
            </a:r>
            <a:endParaRPr lang="zh-CN" sz="1600">
              <a:solidFill>
                <a:srgbClr val="6070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Shape 23"/>
          <p:cNvSpPr/>
          <p:nvPr>
            <p:custDataLst>
              <p:tags r:id="rId17"/>
            </p:custDataLst>
          </p:nvPr>
        </p:nvSpPr>
        <p:spPr>
          <a:xfrm>
            <a:off x="566928" y="4087368"/>
            <a:ext cx="5349240" cy="12070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6"/>
            </a:solidFill>
          </a:ln>
        </p:spPr>
      </p:sp>
      <p:sp>
        <p:nvSpPr>
          <p:cNvPr id="24" name="Text 24"/>
          <p:cNvSpPr txBox="1"/>
          <p:nvPr>
            <p:custDataLst>
              <p:tags r:id="rId18"/>
            </p:custDataLst>
          </p:nvPr>
        </p:nvSpPr>
        <p:spPr>
          <a:xfrm>
            <a:off x="795528" y="4398264"/>
            <a:ext cx="51206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1800" b="1">
                <a:solidFill>
                  <a:srgbClr val="1978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lang="zh-CN" sz="1800"/>
          </a:p>
        </p:txBody>
      </p:sp>
      <p:sp>
        <p:nvSpPr>
          <p:cNvPr id="25" name="Text 25"/>
          <p:cNvSpPr txBox="1"/>
          <p:nvPr>
            <p:custDataLst>
              <p:tags r:id="rId19"/>
            </p:custDataLst>
          </p:nvPr>
        </p:nvSpPr>
        <p:spPr>
          <a:xfrm>
            <a:off x="1481328" y="4306824"/>
            <a:ext cx="4160520" cy="3073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2000" b="1">
                <a:solidFill>
                  <a:srgbClr val="17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评测体系</a:t>
            </a:r>
            <a:endParaRPr lang="zh-CN" sz="2000" b="1">
              <a:solidFill>
                <a:srgbClr val="1720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 26"/>
          <p:cNvSpPr txBox="1"/>
          <p:nvPr>
            <p:custDataLst>
              <p:tags r:id="rId20"/>
            </p:custDataLst>
          </p:nvPr>
        </p:nvSpPr>
        <p:spPr>
          <a:xfrm>
            <a:off x="1481328" y="4654296"/>
            <a:ext cx="4069080" cy="492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6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 条真实业务表达 + 回归案例，持续验证准确率。</a:t>
            </a:r>
            <a:endParaRPr lang="zh-CN" sz="1600">
              <a:solidFill>
                <a:srgbClr val="6070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Shape 27"/>
          <p:cNvSpPr/>
          <p:nvPr>
            <p:custDataLst>
              <p:tags r:id="rId21"/>
            </p:custDataLst>
          </p:nvPr>
        </p:nvSpPr>
        <p:spPr>
          <a:xfrm>
            <a:off x="6281928" y="4087368"/>
            <a:ext cx="5349240" cy="12070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6"/>
            </a:solidFill>
          </a:ln>
        </p:spPr>
      </p:sp>
      <p:sp>
        <p:nvSpPr>
          <p:cNvPr id="28" name="Text 28"/>
          <p:cNvSpPr txBox="1"/>
          <p:nvPr>
            <p:custDataLst>
              <p:tags r:id="rId22"/>
            </p:custDataLst>
          </p:nvPr>
        </p:nvSpPr>
        <p:spPr>
          <a:xfrm>
            <a:off x="6510528" y="4398264"/>
            <a:ext cx="51206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1800" b="1">
                <a:solidFill>
                  <a:srgbClr val="1978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lang="zh-CN" sz="1800"/>
          </a:p>
        </p:txBody>
      </p:sp>
      <p:sp>
        <p:nvSpPr>
          <p:cNvPr id="29" name="Text 29"/>
          <p:cNvSpPr txBox="1"/>
          <p:nvPr>
            <p:custDataLst>
              <p:tags r:id="rId23"/>
            </p:custDataLst>
          </p:nvPr>
        </p:nvSpPr>
        <p:spPr>
          <a:xfrm>
            <a:off x="7196328" y="4306824"/>
            <a:ext cx="4160520" cy="3073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2000" b="1">
                <a:solidFill>
                  <a:srgbClr val="17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汇报演示平台</a:t>
            </a:r>
            <a:endParaRPr lang="zh-CN" sz="2000" b="1">
              <a:solidFill>
                <a:srgbClr val="1720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 30"/>
          <p:cNvSpPr txBox="1"/>
          <p:nvPr>
            <p:custDataLst>
              <p:tags r:id="rId24"/>
            </p:custDataLst>
          </p:nvPr>
        </p:nvSpPr>
        <p:spPr>
          <a:xfrm>
            <a:off x="7196328" y="4654296"/>
            <a:ext cx="4069080" cy="2457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6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在线可视化与离线演示，适配项目汇报场景。</a:t>
            </a:r>
            <a:endParaRPr lang="zh-CN" sz="1600">
              <a:solidFill>
                <a:srgbClr val="6070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 w="9525">
            <a:solidFill>
              <a:srgbClr val="F4F7F9"/>
            </a:solidFill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C3C"/>
          </a:solidFill>
          <a:ln w="9525">
            <a:solidFill>
              <a:srgbClr val="172C3C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475488" y="164592"/>
            <a:ext cx="86868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总体技术方案</a:t>
            </a:r>
            <a:endParaRPr lang="zh-CN" sz="2100"/>
          </a:p>
        </p:txBody>
      </p:sp>
      <p:sp>
        <p:nvSpPr>
          <p:cNvPr id="5" name="Text 5"/>
          <p:cNvSpPr txBox="1"/>
          <p:nvPr/>
        </p:nvSpPr>
        <p:spPr>
          <a:xfrm>
            <a:off x="502920" y="6510528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8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Intent Analysis Engine | 2026-07-10</a:t>
            </a:r>
            <a:endParaRPr lang="zh-CN" sz="800"/>
          </a:p>
        </p:txBody>
      </p:sp>
      <p:sp>
        <p:nvSpPr>
          <p:cNvPr id="7" name="Shape 7"/>
          <p:cNvSpPr/>
          <p:nvPr/>
        </p:nvSpPr>
        <p:spPr>
          <a:xfrm>
            <a:off x="502920" y="1207008"/>
            <a:ext cx="1143000" cy="658368"/>
          </a:xfrm>
          <a:prstGeom prst="roundRect">
            <a:avLst/>
          </a:prstGeom>
          <a:solidFill>
            <a:srgbClr val="19788A"/>
          </a:solidFill>
          <a:ln w="9525">
            <a:solidFill>
              <a:srgbClr val="D6E0E6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612648" y="1408176"/>
            <a:ext cx="923544" cy="184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用户自然语言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 9"/>
          <p:cNvSpPr txBox="1"/>
          <p:nvPr>
            <p:custDataLst>
              <p:tags r:id="rId1"/>
            </p:custDataLst>
          </p:nvPr>
        </p:nvSpPr>
        <p:spPr>
          <a:xfrm>
            <a:off x="1581912" y="1371600"/>
            <a:ext cx="29260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1800" b="1">
                <a:solidFill>
                  <a:srgbClr val="1978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lang="zh-CN" sz="1800"/>
          </a:p>
        </p:txBody>
      </p:sp>
      <p:sp>
        <p:nvSpPr>
          <p:cNvPr id="10" name="Shape 10"/>
          <p:cNvSpPr/>
          <p:nvPr>
            <p:custDataLst>
              <p:tags r:id="rId2"/>
            </p:custDataLst>
          </p:nvPr>
        </p:nvSpPr>
        <p:spPr>
          <a:xfrm>
            <a:off x="1874520" y="1207008"/>
            <a:ext cx="1298448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6"/>
            </a:solidFill>
          </a:ln>
        </p:spPr>
      </p:sp>
      <p:sp>
        <p:nvSpPr>
          <p:cNvPr id="11" name="Text 11"/>
          <p:cNvSpPr txBox="1"/>
          <p:nvPr>
            <p:custDataLst>
              <p:tags r:id="rId3"/>
            </p:custDataLst>
          </p:nvPr>
        </p:nvSpPr>
        <p:spPr>
          <a:xfrm>
            <a:off x="1984248" y="1408176"/>
            <a:ext cx="107899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1000" b="1">
                <a:solidFill>
                  <a:srgbClr val="17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Question Fast Path</a:t>
            </a:r>
            <a:endParaRPr lang="zh-CN" sz="1000"/>
          </a:p>
        </p:txBody>
      </p:sp>
      <p:sp>
        <p:nvSpPr>
          <p:cNvPr id="12" name="Text 12"/>
          <p:cNvSpPr txBox="1"/>
          <p:nvPr>
            <p:custDataLst>
              <p:tags r:id="rId4"/>
            </p:custDataLst>
          </p:nvPr>
        </p:nvSpPr>
        <p:spPr>
          <a:xfrm>
            <a:off x="3099816" y="1371600"/>
            <a:ext cx="29260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1800" b="1">
                <a:solidFill>
                  <a:srgbClr val="1978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lang="zh-CN" sz="1800"/>
          </a:p>
        </p:txBody>
      </p:sp>
      <p:sp>
        <p:nvSpPr>
          <p:cNvPr id="13" name="Shape 13"/>
          <p:cNvSpPr/>
          <p:nvPr>
            <p:custDataLst>
              <p:tags r:id="rId5"/>
            </p:custDataLst>
          </p:nvPr>
        </p:nvSpPr>
        <p:spPr>
          <a:xfrm>
            <a:off x="3520440" y="1207008"/>
            <a:ext cx="1298448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6"/>
            </a:solidFill>
          </a:ln>
        </p:spPr>
      </p:sp>
      <p:sp>
        <p:nvSpPr>
          <p:cNvPr id="14" name="Text 14"/>
          <p:cNvSpPr txBox="1"/>
          <p:nvPr>
            <p:custDataLst>
              <p:tags r:id="rId6"/>
            </p:custDataLst>
          </p:nvPr>
        </p:nvSpPr>
        <p:spPr>
          <a:xfrm>
            <a:off x="3630168" y="1408176"/>
            <a:ext cx="107899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1000" b="1">
                <a:solidFill>
                  <a:srgbClr val="17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Task Decomposer</a:t>
            </a:r>
            <a:endParaRPr lang="zh-CN" sz="1000"/>
          </a:p>
        </p:txBody>
      </p:sp>
      <p:sp>
        <p:nvSpPr>
          <p:cNvPr id="15" name="Text 15"/>
          <p:cNvSpPr txBox="1"/>
          <p:nvPr>
            <p:custDataLst>
              <p:tags r:id="rId7"/>
            </p:custDataLst>
          </p:nvPr>
        </p:nvSpPr>
        <p:spPr>
          <a:xfrm>
            <a:off x="4745736" y="1371600"/>
            <a:ext cx="29260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1800" b="1">
                <a:solidFill>
                  <a:srgbClr val="1978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lang="zh-CN" sz="1800"/>
          </a:p>
        </p:txBody>
      </p:sp>
      <p:sp>
        <p:nvSpPr>
          <p:cNvPr id="16" name="Shape 16"/>
          <p:cNvSpPr/>
          <p:nvPr>
            <p:custDataLst>
              <p:tags r:id="rId8"/>
            </p:custDataLst>
          </p:nvPr>
        </p:nvSpPr>
        <p:spPr>
          <a:xfrm>
            <a:off x="5074920" y="1207008"/>
            <a:ext cx="1298448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6"/>
            </a:solidFill>
          </a:ln>
        </p:spPr>
      </p:sp>
      <p:sp>
        <p:nvSpPr>
          <p:cNvPr id="17" name="Text 17"/>
          <p:cNvSpPr txBox="1"/>
          <p:nvPr>
            <p:custDataLst>
              <p:tags r:id="rId9"/>
            </p:custDataLst>
          </p:nvPr>
        </p:nvSpPr>
        <p:spPr>
          <a:xfrm>
            <a:off x="5184648" y="1408176"/>
            <a:ext cx="107899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1000" b="1">
                <a:solidFill>
                  <a:srgbClr val="17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Level1 Rule Matcher</a:t>
            </a:r>
            <a:endParaRPr lang="zh-CN" sz="1000"/>
          </a:p>
        </p:txBody>
      </p:sp>
      <p:sp>
        <p:nvSpPr>
          <p:cNvPr id="18" name="Text 18"/>
          <p:cNvSpPr txBox="1"/>
          <p:nvPr>
            <p:custDataLst>
              <p:tags r:id="rId10"/>
            </p:custDataLst>
          </p:nvPr>
        </p:nvSpPr>
        <p:spPr>
          <a:xfrm>
            <a:off x="6300216" y="1371600"/>
            <a:ext cx="29260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1800" b="1">
                <a:solidFill>
                  <a:srgbClr val="1978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lang="zh-CN" sz="1800"/>
          </a:p>
        </p:txBody>
      </p:sp>
      <p:sp>
        <p:nvSpPr>
          <p:cNvPr id="19" name="Shape 19"/>
          <p:cNvSpPr/>
          <p:nvPr>
            <p:custDataLst>
              <p:tags r:id="rId11"/>
            </p:custDataLst>
          </p:nvPr>
        </p:nvSpPr>
        <p:spPr>
          <a:xfrm>
            <a:off x="6903720" y="1207008"/>
            <a:ext cx="1298448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6"/>
            </a:solidFill>
          </a:ln>
        </p:spPr>
      </p:sp>
      <p:sp>
        <p:nvSpPr>
          <p:cNvPr id="20" name="Text 20"/>
          <p:cNvSpPr txBox="1"/>
          <p:nvPr>
            <p:custDataLst>
              <p:tags r:id="rId12"/>
            </p:custDataLst>
          </p:nvPr>
        </p:nvSpPr>
        <p:spPr>
          <a:xfrm>
            <a:off x="7013448" y="1408176"/>
            <a:ext cx="107899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1000" b="1">
                <a:solidFill>
                  <a:srgbClr val="17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Level2 BGE + Milvus</a:t>
            </a:r>
            <a:endParaRPr lang="zh-CN" sz="1000"/>
          </a:p>
        </p:txBody>
      </p:sp>
      <p:sp>
        <p:nvSpPr>
          <p:cNvPr id="21" name="Text 21"/>
          <p:cNvSpPr txBox="1"/>
          <p:nvPr>
            <p:custDataLst>
              <p:tags r:id="rId13"/>
            </p:custDataLst>
          </p:nvPr>
        </p:nvSpPr>
        <p:spPr>
          <a:xfrm>
            <a:off x="8129016" y="1371600"/>
            <a:ext cx="29260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1800" b="1">
                <a:solidFill>
                  <a:srgbClr val="1978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lang="zh-CN" sz="1800"/>
          </a:p>
        </p:txBody>
      </p:sp>
      <p:sp>
        <p:nvSpPr>
          <p:cNvPr id="22" name="Shape 22"/>
          <p:cNvSpPr/>
          <p:nvPr>
            <p:custDataLst>
              <p:tags r:id="rId14"/>
            </p:custDataLst>
          </p:nvPr>
        </p:nvSpPr>
        <p:spPr>
          <a:xfrm>
            <a:off x="8778240" y="1207008"/>
            <a:ext cx="1298448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6"/>
            </a:solidFill>
          </a:ln>
        </p:spPr>
      </p:sp>
      <p:sp>
        <p:nvSpPr>
          <p:cNvPr id="23" name="Text 23"/>
          <p:cNvSpPr txBox="1"/>
          <p:nvPr>
            <p:custDataLst>
              <p:tags r:id="rId15"/>
            </p:custDataLst>
          </p:nvPr>
        </p:nvSpPr>
        <p:spPr>
          <a:xfrm>
            <a:off x="8887968" y="1408176"/>
            <a:ext cx="107899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1000" b="1">
                <a:solidFill>
                  <a:srgbClr val="17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Level3 LLM Matcher</a:t>
            </a:r>
            <a:endParaRPr lang="zh-CN" sz="1000"/>
          </a:p>
        </p:txBody>
      </p:sp>
      <p:sp>
        <p:nvSpPr>
          <p:cNvPr id="24" name="Text 24"/>
          <p:cNvSpPr txBox="1"/>
          <p:nvPr>
            <p:custDataLst>
              <p:tags r:id="rId16"/>
            </p:custDataLst>
          </p:nvPr>
        </p:nvSpPr>
        <p:spPr>
          <a:xfrm>
            <a:off x="10003536" y="1371600"/>
            <a:ext cx="29260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1800" b="1">
                <a:solidFill>
                  <a:srgbClr val="1978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lang="zh-CN" sz="1800"/>
          </a:p>
        </p:txBody>
      </p:sp>
      <p:sp>
        <p:nvSpPr>
          <p:cNvPr id="25" name="Shape 25"/>
          <p:cNvSpPr/>
          <p:nvPr>
            <p:custDataLst>
              <p:tags r:id="rId17"/>
            </p:custDataLst>
          </p:nvPr>
        </p:nvSpPr>
        <p:spPr>
          <a:xfrm>
            <a:off x="10378440" y="1207008"/>
            <a:ext cx="1298448" cy="658368"/>
          </a:xfrm>
          <a:prstGeom prst="roundRect">
            <a:avLst/>
          </a:prstGeom>
          <a:solidFill>
            <a:srgbClr val="1E8A5A"/>
          </a:solidFill>
          <a:ln w="9525">
            <a:solidFill>
              <a:srgbClr val="D6E0E6"/>
            </a:solidFill>
          </a:ln>
        </p:spPr>
      </p:sp>
      <p:sp>
        <p:nvSpPr>
          <p:cNvPr id="26" name="Text 26"/>
          <p:cNvSpPr txBox="1"/>
          <p:nvPr>
            <p:custDataLst>
              <p:tags r:id="rId18"/>
            </p:custDataLst>
          </p:nvPr>
        </p:nvSpPr>
        <p:spPr>
          <a:xfrm>
            <a:off x="10488168" y="1408176"/>
            <a:ext cx="1078992" cy="184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TaskList 输出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Shape 27"/>
          <p:cNvSpPr/>
          <p:nvPr/>
        </p:nvSpPr>
        <p:spPr>
          <a:xfrm>
            <a:off x="2514600" y="2788920"/>
            <a:ext cx="7269480" cy="658368"/>
          </a:xfrm>
          <a:prstGeom prst="roundRect">
            <a:avLst/>
          </a:prstGeom>
          <a:solidFill>
            <a:srgbClr val="EAF6EF"/>
          </a:solidFill>
          <a:ln w="9525">
            <a:solidFill>
              <a:srgbClr val="B8DCC9"/>
            </a:solidFill>
          </a:ln>
        </p:spPr>
      </p:sp>
      <p:sp>
        <p:nvSpPr>
          <p:cNvPr id="28" name="Text 28"/>
          <p:cNvSpPr txBox="1"/>
          <p:nvPr/>
        </p:nvSpPr>
        <p:spPr>
          <a:xfrm>
            <a:off x="2743200" y="2999232"/>
            <a:ext cx="68122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1300" b="1">
                <a:solidFill>
                  <a:srgbClr val="1E8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Task Builder → Input Validator → Clarification Questions</a:t>
            </a:r>
            <a:endParaRPr lang="zh-CN" sz="1300"/>
          </a:p>
        </p:txBody>
      </p:sp>
      <p:sp>
        <p:nvSpPr>
          <p:cNvPr id="29" name="Text 29"/>
          <p:cNvSpPr txBox="1"/>
          <p:nvPr/>
        </p:nvSpPr>
        <p:spPr>
          <a:xfrm>
            <a:off x="731520" y="4005072"/>
            <a:ext cx="1097280" cy="3073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2000" b="1">
                <a:solidFill>
                  <a:srgbClr val="17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设计重点</a:t>
            </a:r>
            <a:endParaRPr lang="zh-CN" sz="2000" b="1">
              <a:solidFill>
                <a:srgbClr val="1720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 30"/>
          <p:cNvSpPr txBox="1"/>
          <p:nvPr/>
        </p:nvSpPr>
        <p:spPr>
          <a:xfrm>
            <a:off x="749808" y="4416552"/>
            <a:ext cx="5212080" cy="9848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6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规则命中直接进入 Task Builder，不被 BGE 替代</a:t>
            </a:r>
            <a:endParaRPr lang="zh-CN" sz="1600"/>
          </a:p>
          <a:p>
            <a:pPr algn="l"/>
            <a:r>
              <a:rPr lang="zh-CN" sz="16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规则未命中才调用 BGE 语义检索</a:t>
            </a:r>
            <a:endParaRPr lang="zh-CN" sz="1600"/>
          </a:p>
          <a:p>
            <a:pPr algn="l"/>
            <a:r>
              <a:rPr lang="zh-CN" sz="16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所有来源统一经过输入校验</a:t>
            </a:r>
            <a:endParaRPr lang="zh-CN" sz="1600"/>
          </a:p>
          <a:p>
            <a:pPr algn="l"/>
            <a:r>
              <a:rPr lang="zh-CN" sz="16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缺失输入必须澄清，禁止自动补全</a:t>
            </a:r>
            <a:endParaRPr lang="zh-CN" sz="1600"/>
          </a:p>
        </p:txBody>
      </p:sp>
      <p:sp>
        <p:nvSpPr>
          <p:cNvPr id="31" name="Text 31"/>
          <p:cNvSpPr txBox="1"/>
          <p:nvPr/>
        </p:nvSpPr>
        <p:spPr>
          <a:xfrm>
            <a:off x="6355080" y="4434840"/>
            <a:ext cx="4480560" cy="2768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800" b="1">
                <a:solidFill>
                  <a:srgbClr val="1978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BGE 只负责语义匹配，不负责补全业务信息。</a:t>
            </a:r>
            <a:endParaRPr lang="zh-CN" sz="1800" b="1">
              <a:solidFill>
                <a:srgbClr val="1978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 32"/>
          <p:cNvSpPr txBox="1"/>
          <p:nvPr/>
        </p:nvSpPr>
        <p:spPr>
          <a:xfrm>
            <a:off x="6355080" y="4892040"/>
            <a:ext cx="4480560" cy="492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6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这保证系统既能处理口语化表达，又不会越界执行业务决策。</a:t>
            </a:r>
            <a:endParaRPr lang="zh-CN" sz="1600">
              <a:solidFill>
                <a:srgbClr val="6070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 w="9525">
            <a:solidFill>
              <a:srgbClr val="F4F7F9"/>
            </a:solidFill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C3C"/>
          </a:solidFill>
          <a:ln w="9525">
            <a:solidFill>
              <a:srgbClr val="172C3C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475488" y="164592"/>
            <a:ext cx="86868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输入校验与澄清机制</a:t>
            </a:r>
            <a:endParaRPr lang="zh-CN" sz="2100"/>
          </a:p>
        </p:txBody>
      </p:sp>
      <p:sp>
        <p:nvSpPr>
          <p:cNvPr id="5" name="Text 5"/>
          <p:cNvSpPr txBox="1"/>
          <p:nvPr/>
        </p:nvSpPr>
        <p:spPr>
          <a:xfrm>
            <a:off x="502920" y="6510528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8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Intent Analysis Engine | 2026-07-10</a:t>
            </a:r>
            <a:endParaRPr lang="zh-CN" sz="800"/>
          </a:p>
        </p:txBody>
      </p:sp>
      <p:sp>
        <p:nvSpPr>
          <p:cNvPr id="7" name="Shape 7"/>
          <p:cNvSpPr/>
          <p:nvPr/>
        </p:nvSpPr>
        <p:spPr>
          <a:xfrm>
            <a:off x="914400" y="1234440"/>
            <a:ext cx="1645920" cy="658368"/>
          </a:xfrm>
          <a:prstGeom prst="roundRect">
            <a:avLst/>
          </a:prstGeom>
          <a:solidFill>
            <a:srgbClr val="19788A"/>
          </a:solidFill>
          <a:ln w="9525">
            <a:solidFill>
              <a:srgbClr val="D6E0E6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1024128" y="1435608"/>
            <a:ext cx="1426464" cy="4305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Rule / BGE / LLM</a:t>
            </a:r>
            <a:endParaRPr lang="zh-CN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2697480" y="1399032"/>
            <a:ext cx="29260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1800" b="1">
                <a:solidFill>
                  <a:srgbClr val="1978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lang="zh-CN" sz="1800"/>
          </a:p>
        </p:txBody>
      </p:sp>
      <p:sp>
        <p:nvSpPr>
          <p:cNvPr id="10" name="Shape 10"/>
          <p:cNvSpPr/>
          <p:nvPr/>
        </p:nvSpPr>
        <p:spPr>
          <a:xfrm>
            <a:off x="3063240" y="1234440"/>
            <a:ext cx="150876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6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3172968" y="1435608"/>
            <a:ext cx="1289304" cy="2152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1400" b="1">
                <a:solidFill>
                  <a:srgbClr val="17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Task Builder</a:t>
            </a:r>
            <a:endParaRPr lang="zh-CN" sz="1400" b="1">
              <a:solidFill>
                <a:srgbClr val="1720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 12"/>
          <p:cNvSpPr txBox="1"/>
          <p:nvPr/>
        </p:nvSpPr>
        <p:spPr>
          <a:xfrm>
            <a:off x="4736592" y="1399032"/>
            <a:ext cx="29260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1800" b="1">
                <a:solidFill>
                  <a:srgbClr val="1978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lang="zh-CN" sz="1800"/>
          </a:p>
        </p:txBody>
      </p:sp>
      <p:sp>
        <p:nvSpPr>
          <p:cNvPr id="13" name="Shape 13"/>
          <p:cNvSpPr/>
          <p:nvPr/>
        </p:nvSpPr>
        <p:spPr>
          <a:xfrm>
            <a:off x="5120640" y="1234440"/>
            <a:ext cx="169164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6"/>
            </a:solidFill>
          </a:ln>
        </p:spPr>
      </p:sp>
      <p:sp>
        <p:nvSpPr>
          <p:cNvPr id="14" name="Text 14"/>
          <p:cNvSpPr txBox="1"/>
          <p:nvPr/>
        </p:nvSpPr>
        <p:spPr>
          <a:xfrm>
            <a:off x="5230368" y="1435608"/>
            <a:ext cx="1472184" cy="2152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1400" b="1">
                <a:solidFill>
                  <a:srgbClr val="17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Input Validator</a:t>
            </a:r>
            <a:endParaRPr lang="zh-CN" sz="1400" b="1">
              <a:solidFill>
                <a:srgbClr val="1720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 15"/>
          <p:cNvSpPr txBox="1"/>
          <p:nvPr/>
        </p:nvSpPr>
        <p:spPr>
          <a:xfrm>
            <a:off x="6967728" y="1399032"/>
            <a:ext cx="29260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1800" b="1">
                <a:solidFill>
                  <a:srgbClr val="1978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lang="zh-CN" sz="1800"/>
          </a:p>
        </p:txBody>
      </p:sp>
      <p:sp>
        <p:nvSpPr>
          <p:cNvPr id="16" name="Shape 16"/>
          <p:cNvSpPr/>
          <p:nvPr/>
        </p:nvSpPr>
        <p:spPr>
          <a:xfrm>
            <a:off x="7360920" y="1234440"/>
            <a:ext cx="1371600" cy="658368"/>
          </a:xfrm>
          <a:prstGeom prst="roundRect">
            <a:avLst/>
          </a:prstGeom>
          <a:solidFill>
            <a:srgbClr val="1E8A5A"/>
          </a:solidFill>
          <a:ln w="9525">
            <a:solidFill>
              <a:srgbClr val="D6E0E6"/>
            </a:solidFill>
          </a:ln>
        </p:spPr>
      </p:sp>
      <p:sp>
        <p:nvSpPr>
          <p:cNvPr id="17" name="Text 17"/>
          <p:cNvSpPr txBox="1"/>
          <p:nvPr/>
        </p:nvSpPr>
        <p:spPr>
          <a:xfrm>
            <a:off x="7470648" y="1435608"/>
            <a:ext cx="1152144" cy="2152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TaskList</a:t>
            </a:r>
            <a:endParaRPr lang="zh-CN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 18"/>
          <p:cNvSpPr txBox="1"/>
          <p:nvPr/>
        </p:nvSpPr>
        <p:spPr>
          <a:xfrm>
            <a:off x="8887968" y="1399032"/>
            <a:ext cx="29260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1800" b="1">
                <a:solidFill>
                  <a:srgbClr val="1978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lang="zh-CN" sz="1800"/>
          </a:p>
        </p:txBody>
      </p:sp>
      <p:sp>
        <p:nvSpPr>
          <p:cNvPr id="19" name="Shape 19"/>
          <p:cNvSpPr/>
          <p:nvPr/>
        </p:nvSpPr>
        <p:spPr>
          <a:xfrm>
            <a:off x="9253728" y="1234440"/>
            <a:ext cx="1600200" cy="658368"/>
          </a:xfrm>
          <a:prstGeom prst="roundRect">
            <a:avLst/>
          </a:prstGeom>
          <a:solidFill>
            <a:srgbClr val="D8A23A"/>
          </a:solidFill>
          <a:ln w="9525">
            <a:solidFill>
              <a:srgbClr val="D6E0E6"/>
            </a:solidFill>
          </a:ln>
        </p:spPr>
      </p:sp>
      <p:sp>
        <p:nvSpPr>
          <p:cNvPr id="20" name="Text 20"/>
          <p:cNvSpPr txBox="1"/>
          <p:nvPr/>
        </p:nvSpPr>
        <p:spPr>
          <a:xfrm>
            <a:off x="9363456" y="1435608"/>
            <a:ext cx="1380744" cy="2152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Clarification</a:t>
            </a:r>
            <a:endParaRPr lang="zh-CN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Shape 21"/>
          <p:cNvSpPr/>
          <p:nvPr/>
        </p:nvSpPr>
        <p:spPr>
          <a:xfrm>
            <a:off x="822960" y="2743200"/>
            <a:ext cx="324612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6"/>
            </a:solidFill>
          </a:ln>
        </p:spPr>
      </p:sp>
      <p:sp>
        <p:nvSpPr>
          <p:cNvPr id="22" name="Shape 22"/>
          <p:cNvSpPr/>
          <p:nvPr/>
        </p:nvSpPr>
        <p:spPr>
          <a:xfrm>
            <a:off x="822960" y="2743200"/>
            <a:ext cx="73152" cy="1417320"/>
          </a:xfrm>
          <a:prstGeom prst="rect">
            <a:avLst/>
          </a:prstGeom>
          <a:solidFill>
            <a:srgbClr val="19788A"/>
          </a:solidFill>
          <a:ln w="9525">
            <a:solidFill>
              <a:srgbClr val="19788A"/>
            </a:solidFill>
          </a:ln>
        </p:spPr>
      </p:sp>
      <p:sp>
        <p:nvSpPr>
          <p:cNvPr id="23" name="Text 23"/>
          <p:cNvSpPr txBox="1"/>
          <p:nvPr/>
        </p:nvSpPr>
        <p:spPr>
          <a:xfrm>
            <a:off x="1078992" y="2962656"/>
            <a:ext cx="2843784" cy="3073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2000" b="1">
                <a:solidFill>
                  <a:srgbClr val="17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统一校验</a:t>
            </a:r>
            <a:endParaRPr lang="zh-CN" sz="2000" b="1">
              <a:solidFill>
                <a:srgbClr val="1720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 24"/>
          <p:cNvSpPr txBox="1"/>
          <p:nvPr/>
        </p:nvSpPr>
        <p:spPr>
          <a:xfrm>
            <a:off x="1078992" y="3364992"/>
            <a:ext cx="2843784" cy="8616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4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所有来源的任务都必须进入 TaskInputValidator。</a:t>
            </a:r>
            <a:endParaRPr lang="zh-CN" sz="1400"/>
          </a:p>
          <a:p>
            <a:pPr algn="l"/>
            <a:r>
              <a:rPr lang="zh-CN" sz="14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不允许任一匹配层直接返回最终任务。</a:t>
            </a:r>
            <a:endParaRPr lang="zh-CN" sz="1400"/>
          </a:p>
        </p:txBody>
      </p:sp>
      <p:sp>
        <p:nvSpPr>
          <p:cNvPr id="25" name="Shape 25"/>
          <p:cNvSpPr/>
          <p:nvPr/>
        </p:nvSpPr>
        <p:spPr>
          <a:xfrm>
            <a:off x="4480560" y="2743200"/>
            <a:ext cx="324612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6"/>
            </a:solidFill>
          </a:ln>
        </p:spPr>
      </p:sp>
      <p:sp>
        <p:nvSpPr>
          <p:cNvPr id="26" name="Shape 26"/>
          <p:cNvSpPr/>
          <p:nvPr/>
        </p:nvSpPr>
        <p:spPr>
          <a:xfrm>
            <a:off x="4480560" y="2743200"/>
            <a:ext cx="73152" cy="1417320"/>
          </a:xfrm>
          <a:prstGeom prst="rect">
            <a:avLst/>
          </a:prstGeom>
          <a:solidFill>
            <a:srgbClr val="D8A23A"/>
          </a:solidFill>
          <a:ln w="9525">
            <a:solidFill>
              <a:srgbClr val="D8A23A"/>
            </a:solidFill>
          </a:ln>
        </p:spPr>
      </p:sp>
      <p:sp>
        <p:nvSpPr>
          <p:cNvPr id="27" name="Text 27"/>
          <p:cNvSpPr txBox="1"/>
          <p:nvPr/>
        </p:nvSpPr>
        <p:spPr>
          <a:xfrm>
            <a:off x="4736592" y="2962656"/>
            <a:ext cx="2843784" cy="3073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2000" b="1">
                <a:solidFill>
                  <a:srgbClr val="17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缺失判断</a:t>
            </a:r>
            <a:endParaRPr lang="zh-CN" sz="2000" b="1">
              <a:solidFill>
                <a:srgbClr val="1720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 28"/>
          <p:cNvSpPr txBox="1"/>
          <p:nvPr/>
        </p:nvSpPr>
        <p:spPr>
          <a:xfrm>
            <a:off x="4736592" y="3364992"/>
            <a:ext cx="2843784" cy="6457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4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 task_type 查 required_inputs。</a:t>
            </a:r>
            <a:endParaRPr lang="zh-CN" sz="1400"/>
          </a:p>
          <a:p>
            <a:pPr algn="l"/>
            <a:r>
              <a:rPr lang="zh-CN" sz="14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用户未明确提供的数据，写入 missing_inputs。</a:t>
            </a:r>
            <a:endParaRPr lang="zh-CN" sz="1400"/>
          </a:p>
        </p:txBody>
      </p:sp>
      <p:sp>
        <p:nvSpPr>
          <p:cNvPr id="29" name="Shape 29"/>
          <p:cNvSpPr/>
          <p:nvPr/>
        </p:nvSpPr>
        <p:spPr>
          <a:xfrm>
            <a:off x="8138160" y="2743200"/>
            <a:ext cx="324612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6"/>
            </a:solidFill>
          </a:ln>
        </p:spPr>
      </p:sp>
      <p:sp>
        <p:nvSpPr>
          <p:cNvPr id="30" name="Shape 30"/>
          <p:cNvSpPr/>
          <p:nvPr/>
        </p:nvSpPr>
        <p:spPr>
          <a:xfrm>
            <a:off x="8138160" y="2743200"/>
            <a:ext cx="73152" cy="1417320"/>
          </a:xfrm>
          <a:prstGeom prst="rect">
            <a:avLst/>
          </a:prstGeom>
          <a:solidFill>
            <a:srgbClr val="1E8A5A"/>
          </a:solidFill>
          <a:ln w="9525">
            <a:solidFill>
              <a:srgbClr val="1E8A5A"/>
            </a:solidFill>
          </a:ln>
        </p:spPr>
      </p:sp>
      <p:sp>
        <p:nvSpPr>
          <p:cNvPr id="31" name="Text 31"/>
          <p:cNvSpPr txBox="1"/>
          <p:nvPr/>
        </p:nvSpPr>
        <p:spPr>
          <a:xfrm>
            <a:off x="8394192" y="2962656"/>
            <a:ext cx="2843784" cy="3073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2000" b="1">
                <a:solidFill>
                  <a:srgbClr val="17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澄清输出</a:t>
            </a:r>
            <a:endParaRPr lang="zh-CN" sz="2000" b="1">
              <a:solidFill>
                <a:srgbClr val="1720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 32"/>
          <p:cNvSpPr txBox="1"/>
          <p:nvPr/>
        </p:nvSpPr>
        <p:spPr>
          <a:xfrm>
            <a:off x="8394192" y="3364992"/>
            <a:ext cx="2843784" cy="6457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4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例如“销售提成”会识别任务，但缺失计算规则、销售数据来源、统计范围。</a:t>
            </a:r>
            <a:endParaRPr lang="zh-CN" sz="1400">
              <a:solidFill>
                <a:srgbClr val="6070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 33"/>
          <p:cNvSpPr txBox="1"/>
          <p:nvPr/>
        </p:nvSpPr>
        <p:spPr>
          <a:xfrm>
            <a:off x="2103120" y="4892040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2000" b="1">
                <a:solidFill>
                  <a:srgbClr val="172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关键原则：不默认、不补全、不猜测。</a:t>
            </a:r>
            <a:endParaRPr lang="zh-CN"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 w="9525">
            <a:solidFill>
              <a:srgbClr val="F4F7F9"/>
            </a:solidFill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C3C"/>
          </a:solidFill>
          <a:ln w="9525">
            <a:solidFill>
              <a:srgbClr val="172C3C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475488" y="164592"/>
            <a:ext cx="86868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自然语言评测体系</a:t>
            </a:r>
            <a:endParaRPr lang="zh-CN" sz="2100"/>
          </a:p>
        </p:txBody>
      </p:sp>
      <p:sp>
        <p:nvSpPr>
          <p:cNvPr id="5" name="Text 5"/>
          <p:cNvSpPr txBox="1"/>
          <p:nvPr/>
        </p:nvSpPr>
        <p:spPr>
          <a:xfrm>
            <a:off x="502920" y="6510528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8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Intent Analysis Engine | 2026-07-10</a:t>
            </a:r>
            <a:endParaRPr lang="zh-CN" sz="800"/>
          </a:p>
        </p:txBody>
      </p:sp>
      <p:sp>
        <p:nvSpPr>
          <p:cNvPr id="7" name="Shape 7"/>
          <p:cNvSpPr/>
          <p:nvPr/>
        </p:nvSpPr>
        <p:spPr>
          <a:xfrm>
            <a:off x="731520" y="987552"/>
            <a:ext cx="196596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6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896112" y="1207008"/>
            <a:ext cx="1636776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2500" b="1">
                <a:solidFill>
                  <a:srgbClr val="1978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</a:t>
            </a:r>
            <a:endParaRPr lang="zh-CN" sz="2500"/>
          </a:p>
        </p:txBody>
      </p:sp>
      <p:sp>
        <p:nvSpPr>
          <p:cNvPr id="9" name="Text 9"/>
          <p:cNvSpPr txBox="1"/>
          <p:nvPr/>
        </p:nvSpPr>
        <p:spPr>
          <a:xfrm>
            <a:off x="896112" y="1664208"/>
            <a:ext cx="163677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900" b="1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标准评测样本</a:t>
            </a:r>
            <a:endParaRPr lang="zh-CN" sz="900"/>
          </a:p>
        </p:txBody>
      </p:sp>
      <p:sp>
        <p:nvSpPr>
          <p:cNvPr id="10" name="Shape 10"/>
          <p:cNvSpPr/>
          <p:nvPr/>
        </p:nvSpPr>
        <p:spPr>
          <a:xfrm>
            <a:off x="2971800" y="987552"/>
            <a:ext cx="196596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6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3136392" y="1207008"/>
            <a:ext cx="1636776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2500" b="1">
                <a:solidFill>
                  <a:srgbClr val="1E8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100%</a:t>
            </a:r>
            <a:endParaRPr lang="zh-CN" sz="2500"/>
          </a:p>
        </p:txBody>
      </p:sp>
      <p:sp>
        <p:nvSpPr>
          <p:cNvPr id="12" name="Text 12"/>
          <p:cNvSpPr txBox="1"/>
          <p:nvPr/>
        </p:nvSpPr>
        <p:spPr>
          <a:xfrm>
            <a:off x="3136392" y="1664208"/>
            <a:ext cx="163677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900" b="1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engine 准确率</a:t>
            </a:r>
            <a:endParaRPr lang="zh-CN" sz="900"/>
          </a:p>
        </p:txBody>
      </p:sp>
      <p:sp>
        <p:nvSpPr>
          <p:cNvPr id="13" name="Shape 13"/>
          <p:cNvSpPr/>
          <p:nvPr/>
        </p:nvSpPr>
        <p:spPr>
          <a:xfrm>
            <a:off x="5212080" y="987552"/>
            <a:ext cx="196596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6"/>
            </a:solidFill>
          </a:ln>
        </p:spPr>
      </p:sp>
      <p:sp>
        <p:nvSpPr>
          <p:cNvPr id="14" name="Text 14"/>
          <p:cNvSpPr txBox="1"/>
          <p:nvPr/>
        </p:nvSpPr>
        <p:spPr>
          <a:xfrm>
            <a:off x="5376672" y="1207008"/>
            <a:ext cx="1636776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2500" b="1">
                <a:solidFill>
                  <a:srgbClr val="1E8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100%</a:t>
            </a:r>
            <a:endParaRPr lang="zh-CN" sz="2500"/>
          </a:p>
        </p:txBody>
      </p:sp>
      <p:sp>
        <p:nvSpPr>
          <p:cNvPr id="15" name="Text 15"/>
          <p:cNvSpPr txBox="1"/>
          <p:nvPr/>
        </p:nvSpPr>
        <p:spPr>
          <a:xfrm>
            <a:off x="5376672" y="1664208"/>
            <a:ext cx="163677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900" b="1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task_type 准确率</a:t>
            </a:r>
            <a:endParaRPr lang="zh-CN" sz="900"/>
          </a:p>
        </p:txBody>
      </p:sp>
      <p:sp>
        <p:nvSpPr>
          <p:cNvPr id="16" name="Shape 16"/>
          <p:cNvSpPr/>
          <p:nvPr/>
        </p:nvSpPr>
        <p:spPr>
          <a:xfrm>
            <a:off x="7452360" y="987552"/>
            <a:ext cx="196596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6"/>
            </a:solidFill>
          </a:ln>
        </p:spPr>
      </p:sp>
      <p:sp>
        <p:nvSpPr>
          <p:cNvPr id="17" name="Text 17"/>
          <p:cNvSpPr txBox="1"/>
          <p:nvPr/>
        </p:nvSpPr>
        <p:spPr>
          <a:xfrm>
            <a:off x="7616952" y="1207008"/>
            <a:ext cx="1636776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2500" b="1">
                <a:solidFill>
                  <a:srgbClr val="1E8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100%</a:t>
            </a:r>
            <a:endParaRPr lang="zh-CN" sz="2500"/>
          </a:p>
        </p:txBody>
      </p:sp>
      <p:sp>
        <p:nvSpPr>
          <p:cNvPr id="18" name="Text 18"/>
          <p:cNvSpPr txBox="1"/>
          <p:nvPr/>
        </p:nvSpPr>
        <p:spPr>
          <a:xfrm>
            <a:off x="7616952" y="1664208"/>
            <a:ext cx="163677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900" b="1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澄清准确率</a:t>
            </a:r>
            <a:endParaRPr lang="zh-CN" sz="900"/>
          </a:p>
        </p:txBody>
      </p:sp>
      <p:sp>
        <p:nvSpPr>
          <p:cNvPr id="19" name="Shape 19"/>
          <p:cNvSpPr/>
          <p:nvPr/>
        </p:nvSpPr>
        <p:spPr>
          <a:xfrm>
            <a:off x="9692640" y="987552"/>
            <a:ext cx="196596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6"/>
            </a:solidFill>
          </a:ln>
        </p:spPr>
      </p:sp>
      <p:sp>
        <p:nvSpPr>
          <p:cNvPr id="20" name="Text 20"/>
          <p:cNvSpPr txBox="1"/>
          <p:nvPr/>
        </p:nvSpPr>
        <p:spPr>
          <a:xfrm>
            <a:off x="9857232" y="1207008"/>
            <a:ext cx="1636776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2500" b="1">
                <a:solidFill>
                  <a:srgbClr val="1E8A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lang="zh-CN" sz="2500"/>
          </a:p>
        </p:txBody>
      </p:sp>
      <p:sp>
        <p:nvSpPr>
          <p:cNvPr id="21" name="Text 21"/>
          <p:cNvSpPr txBox="1"/>
          <p:nvPr/>
        </p:nvSpPr>
        <p:spPr>
          <a:xfrm>
            <a:off x="9857232" y="1664208"/>
            <a:ext cx="163677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900" b="1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失败案例</a:t>
            </a:r>
            <a:endParaRPr lang="zh-CN" sz="900"/>
          </a:p>
        </p:txBody>
      </p:sp>
      <p:sp>
        <p:nvSpPr>
          <p:cNvPr id="22" name="Shape 22"/>
          <p:cNvSpPr/>
          <p:nvPr/>
        </p:nvSpPr>
        <p:spPr>
          <a:xfrm>
            <a:off x="822960" y="2743200"/>
            <a:ext cx="370332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6"/>
            </a:solidFill>
          </a:ln>
        </p:spPr>
      </p:sp>
      <p:sp>
        <p:nvSpPr>
          <p:cNvPr id="23" name="Shape 23"/>
          <p:cNvSpPr/>
          <p:nvPr/>
        </p:nvSpPr>
        <p:spPr>
          <a:xfrm>
            <a:off x="822960" y="2743200"/>
            <a:ext cx="73152" cy="2331720"/>
          </a:xfrm>
          <a:prstGeom prst="rect">
            <a:avLst/>
          </a:prstGeom>
          <a:solidFill>
            <a:srgbClr val="19788A"/>
          </a:solidFill>
          <a:ln w="9525">
            <a:solidFill>
              <a:srgbClr val="19788A"/>
            </a:solidFill>
          </a:ln>
        </p:spPr>
      </p:sp>
      <p:sp>
        <p:nvSpPr>
          <p:cNvPr id="24" name="Text 24"/>
          <p:cNvSpPr txBox="1"/>
          <p:nvPr/>
        </p:nvSpPr>
        <p:spPr>
          <a:xfrm>
            <a:off x="1078992" y="2962656"/>
            <a:ext cx="3300984" cy="2457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600" b="1">
                <a:solidFill>
                  <a:srgbClr val="17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覆盖场景</a:t>
            </a:r>
            <a:endParaRPr lang="zh-CN" sz="1600" b="1">
              <a:solidFill>
                <a:srgbClr val="1720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 25"/>
          <p:cNvSpPr txBox="1"/>
          <p:nvPr/>
        </p:nvSpPr>
        <p:spPr>
          <a:xfrm>
            <a:off x="1078992" y="3364992"/>
            <a:ext cx="3300984" cy="150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4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规则明确请求：35</a:t>
            </a:r>
            <a:endParaRPr lang="zh-CN" sz="1400"/>
          </a:p>
          <a:p>
            <a:pPr algn="l"/>
            <a:r>
              <a:rPr lang="zh-CN" sz="14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语义表达变化：20</a:t>
            </a:r>
            <a:endParaRPr lang="zh-CN" sz="1400"/>
          </a:p>
          <a:p>
            <a:pPr algn="l"/>
            <a:r>
              <a:rPr lang="zh-CN" sz="14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信息缺失请求：15</a:t>
            </a:r>
            <a:endParaRPr lang="zh-CN" sz="1400"/>
          </a:p>
          <a:p>
            <a:pPr algn="l"/>
            <a:r>
              <a:rPr lang="zh-CN" sz="14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多任务请求：10</a:t>
            </a:r>
            <a:endParaRPr lang="zh-CN" sz="1400"/>
          </a:p>
          <a:p>
            <a:pPr algn="l"/>
            <a:r>
              <a:rPr lang="zh-CN" sz="14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智能问答请求：10</a:t>
            </a:r>
            <a:endParaRPr lang="zh-CN" sz="1400"/>
          </a:p>
          <a:p>
            <a:pPr algn="l"/>
            <a:r>
              <a:rPr lang="zh-CN" sz="14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未知请求：5</a:t>
            </a:r>
            <a:endParaRPr lang="zh-CN" sz="1400"/>
          </a:p>
          <a:p>
            <a:pPr algn="l"/>
            <a:r>
              <a:rPr lang="zh-CN" sz="14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错误表达：5</a:t>
            </a:r>
            <a:endParaRPr lang="zh-CN" sz="1400"/>
          </a:p>
        </p:txBody>
      </p:sp>
      <p:sp>
        <p:nvSpPr>
          <p:cNvPr id="26" name="Shape 26"/>
          <p:cNvSpPr/>
          <p:nvPr/>
        </p:nvSpPr>
        <p:spPr>
          <a:xfrm>
            <a:off x="4754880" y="2743200"/>
            <a:ext cx="315468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6"/>
            </a:solidFill>
          </a:ln>
        </p:spPr>
      </p:sp>
      <p:sp>
        <p:nvSpPr>
          <p:cNvPr id="27" name="Shape 27"/>
          <p:cNvSpPr/>
          <p:nvPr/>
        </p:nvSpPr>
        <p:spPr>
          <a:xfrm>
            <a:off x="4754880" y="2743200"/>
            <a:ext cx="73152" cy="2331720"/>
          </a:xfrm>
          <a:prstGeom prst="rect">
            <a:avLst/>
          </a:prstGeom>
          <a:solidFill>
            <a:srgbClr val="D8A23A"/>
          </a:solidFill>
          <a:ln w="9525">
            <a:solidFill>
              <a:srgbClr val="D8A23A"/>
            </a:solidFill>
          </a:ln>
        </p:spPr>
      </p:sp>
      <p:sp>
        <p:nvSpPr>
          <p:cNvPr id="28" name="Text 28"/>
          <p:cNvSpPr txBox="1"/>
          <p:nvPr/>
        </p:nvSpPr>
        <p:spPr>
          <a:xfrm>
            <a:off x="5010912" y="2962656"/>
            <a:ext cx="2752344" cy="2457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600" b="1">
                <a:solidFill>
                  <a:srgbClr val="17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优化前后对比</a:t>
            </a:r>
            <a:endParaRPr lang="zh-CN" sz="1600" b="1">
              <a:solidFill>
                <a:srgbClr val="1720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 29"/>
          <p:cNvSpPr txBox="1"/>
          <p:nvPr/>
        </p:nvSpPr>
        <p:spPr>
          <a:xfrm>
            <a:off x="5010912" y="3364992"/>
            <a:ext cx="2752344" cy="12922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4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优化前：96 / 100 通过</a:t>
            </a:r>
            <a:endParaRPr lang="zh-CN" sz="1400"/>
          </a:p>
          <a:p>
            <a:pPr algn="l"/>
            <a:r>
              <a:rPr lang="zh-CN" sz="14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engine：97%</a:t>
            </a:r>
            <a:endParaRPr lang="zh-CN" sz="1400"/>
          </a:p>
          <a:p>
            <a:pPr algn="l"/>
            <a:r>
              <a:rPr lang="zh-CN" sz="14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task_type：96%</a:t>
            </a:r>
            <a:endParaRPr lang="zh-CN" sz="1400"/>
          </a:p>
          <a:p>
            <a:pPr algn="l"/>
            <a:r>
              <a:rPr lang="zh-CN" sz="14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clarification：99%</a:t>
            </a:r>
            <a:endParaRPr lang="zh-CN" sz="1400"/>
          </a:p>
          <a:p>
            <a:pPr algn="l"/>
            <a:endParaRPr lang="zh-CN" sz="1400"/>
          </a:p>
          <a:p>
            <a:pPr algn="l"/>
            <a:r>
              <a:rPr lang="zh-CN" sz="14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优化后：100 / 100 通过</a:t>
            </a:r>
            <a:endParaRPr lang="zh-CN" sz="1400"/>
          </a:p>
        </p:txBody>
      </p:sp>
      <p:sp>
        <p:nvSpPr>
          <p:cNvPr id="30" name="Shape 30"/>
          <p:cNvSpPr/>
          <p:nvPr/>
        </p:nvSpPr>
        <p:spPr>
          <a:xfrm>
            <a:off x="8138160" y="2743200"/>
            <a:ext cx="315468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6"/>
            </a:solidFill>
          </a:ln>
        </p:spPr>
      </p:sp>
      <p:sp>
        <p:nvSpPr>
          <p:cNvPr id="31" name="Shape 31"/>
          <p:cNvSpPr/>
          <p:nvPr/>
        </p:nvSpPr>
        <p:spPr>
          <a:xfrm>
            <a:off x="8138160" y="2743200"/>
            <a:ext cx="73152" cy="2331720"/>
          </a:xfrm>
          <a:prstGeom prst="rect">
            <a:avLst/>
          </a:prstGeom>
          <a:solidFill>
            <a:srgbClr val="1E8A5A"/>
          </a:solidFill>
          <a:ln w="9525">
            <a:solidFill>
              <a:srgbClr val="1E8A5A"/>
            </a:solidFill>
          </a:ln>
        </p:spPr>
      </p:sp>
      <p:sp>
        <p:nvSpPr>
          <p:cNvPr id="32" name="Text 32"/>
          <p:cNvSpPr txBox="1"/>
          <p:nvPr/>
        </p:nvSpPr>
        <p:spPr>
          <a:xfrm>
            <a:off x="8394192" y="2962656"/>
            <a:ext cx="2752344" cy="2457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600" b="1">
                <a:solidFill>
                  <a:srgbClr val="17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评测价值</a:t>
            </a:r>
            <a:endParaRPr lang="zh-CN" sz="1600" b="1">
              <a:solidFill>
                <a:srgbClr val="1720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 33"/>
          <p:cNvSpPr txBox="1"/>
          <p:nvPr/>
        </p:nvSpPr>
        <p:spPr>
          <a:xfrm>
            <a:off x="8394192" y="3364992"/>
            <a:ext cx="2752344" cy="6457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4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后续规则、BGE、LLM 调整后，可以重新运行评测集和回归案例，避免旧问题反复出现。</a:t>
            </a:r>
            <a:endParaRPr lang="zh-CN" sz="1400">
              <a:solidFill>
                <a:srgbClr val="6070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 w="9525">
            <a:solidFill>
              <a:srgbClr val="F4F7F9"/>
            </a:solidFill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C3C"/>
          </a:solidFill>
          <a:ln w="9525">
            <a:solidFill>
              <a:srgbClr val="172C3C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475488" y="164592"/>
            <a:ext cx="86868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典型识别案例</a:t>
            </a:r>
            <a:endParaRPr lang="zh-CN" sz="2100"/>
          </a:p>
        </p:txBody>
      </p:sp>
      <p:sp>
        <p:nvSpPr>
          <p:cNvPr id="5" name="Text 5"/>
          <p:cNvSpPr txBox="1"/>
          <p:nvPr/>
        </p:nvSpPr>
        <p:spPr>
          <a:xfrm>
            <a:off x="502920" y="6510528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8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Intent Analysis Engine | 2026-07-10</a:t>
            </a:r>
            <a:endParaRPr lang="zh-CN" sz="800"/>
          </a:p>
        </p:txBody>
      </p:sp>
      <p:sp>
        <p:nvSpPr>
          <p:cNvPr id="7" name="Shape 7"/>
          <p:cNvSpPr/>
          <p:nvPr/>
        </p:nvSpPr>
        <p:spPr>
          <a:xfrm>
            <a:off x="658368" y="987552"/>
            <a:ext cx="5321808" cy="15727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6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914400" y="1243584"/>
            <a:ext cx="4800600" cy="2457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600" b="1">
                <a:solidFill>
                  <a:srgbClr val="172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“销售提成”</a:t>
            </a:r>
            <a:endParaRPr lang="zh-CN" sz="1600" b="1">
              <a:solidFill>
                <a:srgbClr val="172C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914400" y="1673352"/>
            <a:ext cx="4800600" cy="6457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4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规则计算任务</a:t>
            </a:r>
            <a:endParaRPr lang="zh-CN" sz="1400"/>
          </a:p>
          <a:p>
            <a:pPr algn="l"/>
            <a:r>
              <a:rPr lang="zh-CN" sz="14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缺失：计算规则、销售数据来源、统计范围</a:t>
            </a:r>
            <a:endParaRPr lang="zh-CN" sz="1400"/>
          </a:p>
          <a:p>
            <a:pPr algn="l"/>
            <a:r>
              <a:rPr lang="zh-CN" sz="14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触发澄清</a:t>
            </a:r>
            <a:endParaRPr lang="zh-CN" sz="1400"/>
          </a:p>
        </p:txBody>
      </p:sp>
      <p:sp>
        <p:nvSpPr>
          <p:cNvPr id="10" name="Shape 10"/>
          <p:cNvSpPr/>
          <p:nvPr/>
        </p:nvSpPr>
        <p:spPr>
          <a:xfrm>
            <a:off x="6373368" y="987552"/>
            <a:ext cx="5321808" cy="15727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6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6629400" y="1243584"/>
            <a:ext cx="4800600" cy="2457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600" b="1">
                <a:solidFill>
                  <a:srgbClr val="172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“帮我看看销售人员奖金怎么算”</a:t>
            </a:r>
            <a:endParaRPr lang="zh-CN" sz="1600" b="1">
              <a:solidFill>
                <a:srgbClr val="172C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 12"/>
          <p:cNvSpPr txBox="1"/>
          <p:nvPr/>
        </p:nvSpPr>
        <p:spPr>
          <a:xfrm>
            <a:off x="6629400" y="1673352"/>
            <a:ext cx="4800600" cy="6457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4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BGE 语义匹配</a:t>
            </a:r>
            <a:endParaRPr lang="zh-CN" sz="1400"/>
          </a:p>
          <a:p>
            <a:pPr algn="l"/>
            <a:r>
              <a:rPr lang="zh-CN" sz="14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识别为销售提成计算</a:t>
            </a:r>
            <a:endParaRPr lang="zh-CN" sz="1400"/>
          </a:p>
          <a:p>
            <a:pPr algn="l"/>
            <a:r>
              <a:rPr lang="zh-CN" sz="14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进入输入校验</a:t>
            </a:r>
            <a:endParaRPr lang="zh-CN" sz="1400"/>
          </a:p>
        </p:txBody>
      </p:sp>
      <p:sp>
        <p:nvSpPr>
          <p:cNvPr id="13" name="Shape 13"/>
          <p:cNvSpPr/>
          <p:nvPr/>
        </p:nvSpPr>
        <p:spPr>
          <a:xfrm>
            <a:off x="658368" y="2980944"/>
            <a:ext cx="5321808" cy="15727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6"/>
            </a:solidFill>
          </a:ln>
        </p:spPr>
      </p:sp>
      <p:sp>
        <p:nvSpPr>
          <p:cNvPr id="14" name="Text 14"/>
          <p:cNvSpPr txBox="1"/>
          <p:nvPr/>
        </p:nvSpPr>
        <p:spPr>
          <a:xfrm>
            <a:off x="914400" y="3236976"/>
            <a:ext cx="4800600" cy="2457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600" b="1">
                <a:solidFill>
                  <a:srgbClr val="172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“最近经营情况怎么样”</a:t>
            </a:r>
            <a:endParaRPr lang="zh-CN" sz="1600" b="1">
              <a:solidFill>
                <a:srgbClr val="172C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 15"/>
          <p:cNvSpPr txBox="1"/>
          <p:nvPr/>
        </p:nvSpPr>
        <p:spPr>
          <a:xfrm>
            <a:off x="914400" y="3666744"/>
            <a:ext cx="4800600" cy="6457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4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经营分析任务</a:t>
            </a:r>
            <a:endParaRPr lang="zh-CN" sz="1400"/>
          </a:p>
          <a:p>
            <a:pPr algn="l"/>
            <a:r>
              <a:rPr lang="zh-CN" sz="14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匹配分析预测引擎</a:t>
            </a:r>
            <a:endParaRPr lang="zh-CN" sz="1400"/>
          </a:p>
          <a:p>
            <a:pPr algn="l"/>
            <a:r>
              <a:rPr lang="zh-CN" sz="14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根据缺失项澄清</a:t>
            </a:r>
            <a:endParaRPr lang="zh-CN" sz="1400"/>
          </a:p>
        </p:txBody>
      </p:sp>
      <p:sp>
        <p:nvSpPr>
          <p:cNvPr id="16" name="Shape 16"/>
          <p:cNvSpPr/>
          <p:nvPr/>
        </p:nvSpPr>
        <p:spPr>
          <a:xfrm>
            <a:off x="6373368" y="2980944"/>
            <a:ext cx="5321808" cy="15727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6"/>
            </a:solidFill>
          </a:ln>
        </p:spPr>
      </p:sp>
      <p:sp>
        <p:nvSpPr>
          <p:cNvPr id="17" name="Text 17"/>
          <p:cNvSpPr txBox="1"/>
          <p:nvPr/>
        </p:nvSpPr>
        <p:spPr>
          <a:xfrm>
            <a:off x="6629400" y="3236976"/>
            <a:ext cx="4800600" cy="492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600" b="1">
                <a:solidFill>
                  <a:srgbClr val="172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“把上个月各区域销售数据整理出来，算提成，再生成凭证”</a:t>
            </a:r>
            <a:endParaRPr lang="zh-CN" sz="1600" b="1">
              <a:solidFill>
                <a:srgbClr val="172C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 18"/>
          <p:cNvSpPr txBox="1"/>
          <p:nvPr/>
        </p:nvSpPr>
        <p:spPr>
          <a:xfrm>
            <a:off x="6629400" y="3789299"/>
            <a:ext cx="4800600" cy="4305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4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拆解 3 个任务：获取销售明细 → 计算销售提成 → 生成计提凭证</a:t>
            </a:r>
            <a:endParaRPr lang="zh-CN" sz="1400">
              <a:solidFill>
                <a:srgbClr val="6070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 w="9525">
            <a:solidFill>
              <a:srgbClr val="F4F7F9"/>
            </a:solidFill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C3C"/>
          </a:solidFill>
          <a:ln w="9525">
            <a:solidFill>
              <a:srgbClr val="172C3C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475488" y="164592"/>
            <a:ext cx="868680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当前实现情况</a:t>
            </a:r>
            <a:endParaRPr lang="zh-CN" sz="2100"/>
          </a:p>
        </p:txBody>
      </p:sp>
      <p:sp>
        <p:nvSpPr>
          <p:cNvPr id="5" name="Text 5"/>
          <p:cNvSpPr txBox="1"/>
          <p:nvPr/>
        </p:nvSpPr>
        <p:spPr>
          <a:xfrm>
            <a:off x="502920" y="6510528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8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Intent Analysis Engine | 2026-07-10</a:t>
            </a:r>
            <a:endParaRPr lang="zh-CN" sz="800"/>
          </a:p>
        </p:txBody>
      </p:sp>
      <p:sp>
        <p:nvSpPr>
          <p:cNvPr id="19" name="文本框 18"/>
          <p:cNvSpPr txBox="1"/>
          <p:nvPr/>
        </p:nvSpPr>
        <p:spPr>
          <a:xfrm>
            <a:off x="473075" y="887095"/>
            <a:ext cx="11383645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当前 意图分析引擎已经完成从用户自然语言输入到标准 </a:t>
            </a:r>
            <a:r>
              <a:rPr lang="en-US" altLang="zh-CN" sz="2000"/>
              <a:t>TaskList </a:t>
            </a:r>
            <a:r>
              <a:rPr lang="zh-CN" altLang="en-US" sz="2000"/>
              <a:t>输出的完整闭环：系统能够通过 </a:t>
            </a:r>
            <a:r>
              <a:rPr lang="en-US" altLang="zh-CN" sz="2000"/>
              <a:t>Level1 </a:t>
            </a:r>
            <a:r>
              <a:rPr lang="zh-CN" altLang="en-US" sz="2000"/>
              <a:t>规则匹配、</a:t>
            </a:r>
            <a:r>
              <a:rPr lang="en-US" altLang="zh-CN" sz="2000"/>
              <a:t>Level2 BGE </a:t>
            </a:r>
            <a:r>
              <a:rPr lang="zh-CN" altLang="en-US" sz="2000"/>
              <a:t>语义匹配和 </a:t>
            </a:r>
            <a:r>
              <a:rPr lang="en-US" altLang="zh-CN" sz="2000"/>
              <a:t>Level3 LLM </a:t>
            </a:r>
            <a:r>
              <a:rPr lang="zh-CN" altLang="en-US" sz="2000"/>
              <a:t>兜底识别用户意图，支持多动作任务拆解、目标引擎选择、必填输入校验和缺失信息澄清；同时严格保持项目边界，只负责意图分析与任务结构化，不执行业务引擎、不查询真实业务数据、不自动补全用户未提供的信息，并已配套在线/离线可视化演示平台和自然语言评测回归体系。</a:t>
            </a:r>
            <a:endParaRPr lang="zh-CN" altLang="en-US"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 w="9525">
            <a:solidFill>
              <a:srgbClr val="F4F7F9"/>
            </a:solidFill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C3C"/>
          </a:solidFill>
          <a:ln w="9525">
            <a:solidFill>
              <a:srgbClr val="172C3C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475488" y="164592"/>
            <a:ext cx="8686800" cy="3225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后续计划</a:t>
            </a:r>
            <a:endParaRPr lang="zh-CN" sz="2100"/>
          </a:p>
        </p:txBody>
      </p:sp>
      <p:sp>
        <p:nvSpPr>
          <p:cNvPr id="5" name="Text 5"/>
          <p:cNvSpPr txBox="1"/>
          <p:nvPr/>
        </p:nvSpPr>
        <p:spPr>
          <a:xfrm>
            <a:off x="502920" y="6510528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8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Intent Analysis Engine | 2026-07-10</a:t>
            </a:r>
            <a:endParaRPr lang="zh-CN" sz="800"/>
          </a:p>
        </p:txBody>
      </p:sp>
      <p:sp>
        <p:nvSpPr>
          <p:cNvPr id="15" name="Shape 15"/>
          <p:cNvSpPr/>
          <p:nvPr/>
        </p:nvSpPr>
        <p:spPr>
          <a:xfrm>
            <a:off x="667385" y="1412875"/>
            <a:ext cx="11000232" cy="1691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6"/>
            </a:solidFill>
          </a:ln>
        </p:spPr>
      </p:sp>
      <p:sp>
        <p:nvSpPr>
          <p:cNvPr id="16" name="Shape 16"/>
          <p:cNvSpPr/>
          <p:nvPr/>
        </p:nvSpPr>
        <p:spPr>
          <a:xfrm>
            <a:off x="594360" y="1341120"/>
            <a:ext cx="73152" cy="1691640"/>
          </a:xfrm>
          <a:prstGeom prst="rect">
            <a:avLst/>
          </a:prstGeom>
          <a:solidFill>
            <a:srgbClr val="1E8A5A"/>
          </a:solidFill>
          <a:ln w="9525">
            <a:solidFill>
              <a:srgbClr val="1E8A5A"/>
            </a:solidFill>
          </a:ln>
        </p:spPr>
      </p:sp>
      <p:sp>
        <p:nvSpPr>
          <p:cNvPr id="17" name="Text 17"/>
          <p:cNvSpPr txBox="1"/>
          <p:nvPr/>
        </p:nvSpPr>
        <p:spPr>
          <a:xfrm>
            <a:off x="767842" y="1485011"/>
            <a:ext cx="10597896" cy="2768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800" b="1">
                <a:solidFill>
                  <a:srgbClr val="1720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后续计划</a:t>
            </a:r>
            <a:endParaRPr lang="zh-CN" sz="1800" b="1">
              <a:solidFill>
                <a:srgbClr val="1720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 18"/>
          <p:cNvSpPr txBox="1"/>
          <p:nvPr/>
        </p:nvSpPr>
        <p:spPr>
          <a:xfrm>
            <a:off x="767842" y="1802257"/>
            <a:ext cx="10597896" cy="14770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6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扩充真实业务语料</a:t>
            </a:r>
            <a:endParaRPr lang="zh-CN" sz="1600"/>
          </a:p>
          <a:p>
            <a:pPr algn="l"/>
            <a:r>
              <a:rPr lang="zh-CN" sz="16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持续调优规则优先级</a:t>
            </a:r>
            <a:endParaRPr lang="zh-CN" sz="1600"/>
          </a:p>
          <a:p>
            <a:pPr algn="l"/>
            <a:r>
              <a:rPr lang="zh-CN" sz="16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</a:t>
            </a:r>
            <a:r>
              <a:rPr lang="zh-CN" sz="16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增加更多回归测试</a:t>
            </a:r>
            <a:endParaRPr lang="zh-CN" sz="1600"/>
          </a:p>
          <a:p>
            <a:pPr algn="l"/>
            <a:r>
              <a:rPr lang="zh-CN" sz="16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严格约束 LLM 输出只使用登记库</a:t>
            </a:r>
            <a:endParaRPr lang="zh-CN" sz="1600"/>
          </a:p>
          <a:p>
            <a:pPr algn="l"/>
            <a:r>
              <a:rPr lang="zh-CN" sz="16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 </a:t>
            </a:r>
            <a:r>
              <a:rPr lang="zh-CN" sz="1600">
                <a:solidFill>
                  <a:srgbClr val="607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和其他引擎对接</a:t>
            </a:r>
            <a:endParaRPr lang="zh-CN" sz="1600"/>
          </a:p>
          <a:p>
            <a:pPr algn="l"/>
            <a:endParaRPr lang="zh-CN" sz="1600"/>
          </a:p>
        </p:txBody>
      </p:sp>
      <p:sp>
        <p:nvSpPr>
          <p:cNvPr id="19" name="Text 19"/>
          <p:cNvSpPr txBox="1"/>
          <p:nvPr/>
        </p:nvSpPr>
        <p:spPr>
          <a:xfrm>
            <a:off x="960120" y="4725797"/>
            <a:ext cx="102412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1800" b="1">
                <a:solidFill>
                  <a:srgbClr val="172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阶段结论：当前系统已经形成可演示、可评测、可扩展的 Intent Analysis Engine 闭环。</a:t>
            </a:r>
            <a:endParaRPr lang="zh-CN" sz="18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16.8,&quot;left&quot;:46.8,&quot;top&quot;:82.8,&quot;width&quot;:866.1600000000001}"/>
</p:tagLst>
</file>

<file path=ppt/tags/tag2.xml><?xml version="1.0" encoding="utf-8"?>
<p:tagLst xmlns:p="http://schemas.openxmlformats.org/presentationml/2006/main">
  <p:tag name="KSO_WM_DIAGRAM_VIRTUALLY_FRAME" val="{&quot;height&quot;:316.8,&quot;left&quot;:46.8,&quot;top&quot;:82.8,&quot;width&quot;:866.1600000000001}"/>
</p:tagLst>
</file>

<file path=ppt/tags/tag3.xml><?xml version="1.0" encoding="utf-8"?>
<p:tagLst xmlns:p="http://schemas.openxmlformats.org/presentationml/2006/main">
  <p:tag name="KSO_WM_DIAGRAM_VIRTUALLY_FRAME" val="{&quot;height&quot;:316.8,&quot;left&quot;:46.8,&quot;top&quot;:82.8,&quot;width&quot;:866.1600000000001}"/>
</p:tagLst>
</file>

<file path=ppt/tags/tag4.xml><?xml version="1.0" encoding="utf-8"?>
<p:tagLst xmlns:p="http://schemas.openxmlformats.org/presentationml/2006/main">
  <p:tag name="KSO_WM_DIAGRAM_VIRTUALLY_FRAME" val="{&quot;height&quot;:316.8,&quot;left&quot;:46.8,&quot;top&quot;:82.8,&quot;width&quot;:866.1600000000001}"/>
</p:tagLst>
</file>

<file path=ppt/tags/tag5.xml><?xml version="1.0" encoding="utf-8"?>
<p:tagLst xmlns:p="http://schemas.openxmlformats.org/presentationml/2006/main">
  <p:tag name="KSO_WM_DIAGRAM_VIRTUALLY_FRAME" val="{&quot;height&quot;:316.8,&quot;left&quot;:46.8,&quot;top&quot;:82.8,&quot;width&quot;:866.1600000000001}"/>
</p:tagLst>
</file>

<file path=ppt/tags/tag6.xml><?xml version="1.0" encoding="utf-8"?>
<p:tagLst xmlns:p="http://schemas.openxmlformats.org/presentationml/2006/main">
  <p:tag name="KSO_WM_DIAGRAM_VIRTUALLY_FRAME" val="{&quot;height&quot;:316.8,&quot;left&quot;:46.8,&quot;top&quot;:82.8,&quot;width&quot;:866.1600000000001}"/>
</p:tagLst>
</file>

<file path=ppt/tags/tag7.xml><?xml version="1.0" encoding="utf-8"?>
<p:tagLst xmlns:p="http://schemas.openxmlformats.org/presentationml/2006/main">
  <p:tag name="KSO_WM_DIAGRAM_VIRTUALLY_FRAME" val="{&quot;height&quot;:316.8,&quot;left&quot;:46.8,&quot;top&quot;:82.8,&quot;width&quot;:866.1600000000001}"/>
</p:tagLst>
</file>

<file path=ppt/tags/tag8.xml><?xml version="1.0" encoding="utf-8"?>
<p:tagLst xmlns:p="http://schemas.openxmlformats.org/presentationml/2006/main">
  <p:tag name="KSO_WM_DIAGRAM_VIRTUALLY_FRAME" val="{&quot;height&quot;:316.8,&quot;left&quot;:46.8,&quot;top&quot;:82.8,&quot;width&quot;:866.1600000000001}"/>
</p:tagLst>
</file>

<file path=ppt/tags/tag9.xml><?xml version="1.0" encoding="utf-8"?>
<p:tagLst xmlns:p="http://schemas.openxmlformats.org/presentationml/2006/main">
  <p:tag name="KSO_WM_DIAGRAM_VIRTUALLY_FRAME" val="{&quot;height&quot;:316.8,&quot;left&quot;:46.8,&quot;top&quot;:82.8,&quot;width&quot;:866.1600000000001}"/>
</p:tagLst>
</file>

<file path=ppt/tags/tag10.xml><?xml version="1.0" encoding="utf-8"?>
<p:tagLst xmlns:p="http://schemas.openxmlformats.org/presentationml/2006/main">
  <p:tag name="KSO_WM_DIAGRAM_VIRTUALLY_FRAME" val="{&quot;height&quot;:316.8,&quot;left&quot;:46.8,&quot;top&quot;:82.8,&quot;width&quot;:866.1600000000001}"/>
</p:tagLst>
</file>

<file path=ppt/tags/tag11.xml><?xml version="1.0" encoding="utf-8"?>
<p:tagLst xmlns:p="http://schemas.openxmlformats.org/presentationml/2006/main">
  <p:tag name="KSO_WM_DIAGRAM_VIRTUALLY_FRAME" val="{&quot;height&quot;:316.8,&quot;left&quot;:46.8,&quot;top&quot;:82.8,&quot;width&quot;:866.1600000000001}"/>
</p:tagLst>
</file>

<file path=ppt/tags/tag12.xml><?xml version="1.0" encoding="utf-8"?>
<p:tagLst xmlns:p="http://schemas.openxmlformats.org/presentationml/2006/main">
  <p:tag name="KSO_WM_DIAGRAM_VIRTUALLY_FRAME" val="{&quot;height&quot;:316.8,&quot;left&quot;:46.8,&quot;top&quot;:82.8,&quot;width&quot;:866.1600000000001}"/>
</p:tagLst>
</file>

<file path=ppt/tags/tag13.xml><?xml version="1.0" encoding="utf-8"?>
<p:tagLst xmlns:p="http://schemas.openxmlformats.org/presentationml/2006/main">
  <p:tag name="KSO_WM_DIAGRAM_VIRTUALLY_FRAME" val="{&quot;height&quot;:316.8,&quot;left&quot;:46.8,&quot;top&quot;:82.8,&quot;width&quot;:866.1600000000001}"/>
</p:tagLst>
</file>

<file path=ppt/tags/tag14.xml><?xml version="1.0" encoding="utf-8"?>
<p:tagLst xmlns:p="http://schemas.openxmlformats.org/presentationml/2006/main">
  <p:tag name="KSO_WM_DIAGRAM_VIRTUALLY_FRAME" val="{&quot;height&quot;:316.8,&quot;left&quot;:46.8,&quot;top&quot;:82.8,&quot;width&quot;:866.1600000000001}"/>
</p:tagLst>
</file>

<file path=ppt/tags/tag15.xml><?xml version="1.0" encoding="utf-8"?>
<p:tagLst xmlns:p="http://schemas.openxmlformats.org/presentationml/2006/main">
  <p:tag name="KSO_WM_DIAGRAM_VIRTUALLY_FRAME" val="{&quot;height&quot;:316.8,&quot;left&quot;:46.8,&quot;top&quot;:82.8,&quot;width&quot;:866.1600000000001}"/>
</p:tagLst>
</file>

<file path=ppt/tags/tag16.xml><?xml version="1.0" encoding="utf-8"?>
<p:tagLst xmlns:p="http://schemas.openxmlformats.org/presentationml/2006/main">
  <p:tag name="KSO_WM_DIAGRAM_VIRTUALLY_FRAME" val="{&quot;height&quot;:316.8,&quot;left&quot;:46.8,&quot;top&quot;:82.8,&quot;width&quot;:866.1600000000001}"/>
</p:tagLst>
</file>

<file path=ppt/tags/tag17.xml><?xml version="1.0" encoding="utf-8"?>
<p:tagLst xmlns:p="http://schemas.openxmlformats.org/presentationml/2006/main">
  <p:tag name="KSO_WM_DIAGRAM_VIRTUALLY_FRAME" val="{&quot;height&quot;:263.91,&quot;left&quot;:39.6,&quot;top&quot;:75.6,&quot;width&quot;:882}"/>
</p:tagLst>
</file>

<file path=ppt/tags/tag18.xml><?xml version="1.0" encoding="utf-8"?>
<p:tagLst xmlns:p="http://schemas.openxmlformats.org/presentationml/2006/main">
  <p:tag name="KSO_WM_DIAGRAM_VIRTUALLY_FRAME" val="{&quot;height&quot;:263.91,&quot;left&quot;:39.6,&quot;top&quot;:75.6,&quot;width&quot;:882}"/>
</p:tagLst>
</file>

<file path=ppt/tags/tag19.xml><?xml version="1.0" encoding="utf-8"?>
<p:tagLst xmlns:p="http://schemas.openxmlformats.org/presentationml/2006/main">
  <p:tag name="KSO_WM_DIAGRAM_VIRTUALLY_FRAME" val="{&quot;height&quot;:263.91,&quot;left&quot;:39.6,&quot;top&quot;:75.6,&quot;width&quot;:882}"/>
</p:tagLst>
</file>

<file path=ppt/tags/tag20.xml><?xml version="1.0" encoding="utf-8"?>
<p:tagLst xmlns:p="http://schemas.openxmlformats.org/presentationml/2006/main">
  <p:tag name="KSO_WM_DIAGRAM_VIRTUALLY_FRAME" val="{&quot;height&quot;:263.91,&quot;left&quot;:39.6,&quot;top&quot;:75.6,&quot;width&quot;:882}"/>
</p:tagLst>
</file>

<file path=ppt/tags/tag21.xml><?xml version="1.0" encoding="utf-8"?>
<p:tagLst xmlns:p="http://schemas.openxmlformats.org/presentationml/2006/main">
  <p:tag name="KSO_WM_DIAGRAM_VIRTUALLY_FRAME" val="{&quot;height&quot;:263.91,&quot;left&quot;:39.6,&quot;top&quot;:75.6,&quot;width&quot;:882}"/>
</p:tagLst>
</file>

<file path=ppt/tags/tag22.xml><?xml version="1.0" encoding="utf-8"?>
<p:tagLst xmlns:p="http://schemas.openxmlformats.org/presentationml/2006/main">
  <p:tag name="KSO_WM_DIAGRAM_VIRTUALLY_FRAME" val="{&quot;height&quot;:263.91,&quot;left&quot;:39.6,&quot;top&quot;:75.6,&quot;width&quot;:882}"/>
</p:tagLst>
</file>

<file path=ppt/tags/tag23.xml><?xml version="1.0" encoding="utf-8"?>
<p:tagLst xmlns:p="http://schemas.openxmlformats.org/presentationml/2006/main">
  <p:tag name="KSO_WM_DIAGRAM_VIRTUALLY_FRAME" val="{&quot;height&quot;:263.91,&quot;left&quot;:39.6,&quot;top&quot;:75.6,&quot;width&quot;:882}"/>
</p:tagLst>
</file>

<file path=ppt/tags/tag24.xml><?xml version="1.0" encoding="utf-8"?>
<p:tagLst xmlns:p="http://schemas.openxmlformats.org/presentationml/2006/main">
  <p:tag name="KSO_WM_DIAGRAM_VIRTUALLY_FRAME" val="{&quot;height&quot;:263.91,&quot;left&quot;:39.6,&quot;top&quot;:75.6,&quot;width&quot;:882}"/>
</p:tagLst>
</file>

<file path=ppt/tags/tag25.xml><?xml version="1.0" encoding="utf-8"?>
<p:tagLst xmlns:p="http://schemas.openxmlformats.org/presentationml/2006/main">
  <p:tag name="KSO_WM_DIAGRAM_VIRTUALLY_FRAME" val="{&quot;height&quot;:263.91,&quot;left&quot;:39.6,&quot;top&quot;:75.6,&quot;width&quot;:882}"/>
</p:tagLst>
</file>

<file path=ppt/tags/tag26.xml><?xml version="1.0" encoding="utf-8"?>
<p:tagLst xmlns:p="http://schemas.openxmlformats.org/presentationml/2006/main">
  <p:tag name="KSO_WM_DIAGRAM_VIRTUALLY_FRAME" val="{&quot;height&quot;:263.91,&quot;left&quot;:39.6,&quot;top&quot;:75.6,&quot;width&quot;:882}"/>
</p:tagLst>
</file>

<file path=ppt/tags/tag27.xml><?xml version="1.0" encoding="utf-8"?>
<p:tagLst xmlns:p="http://schemas.openxmlformats.org/presentationml/2006/main">
  <p:tag name="KSO_WM_DIAGRAM_VIRTUALLY_FRAME" val="{&quot;height&quot;:263.91,&quot;left&quot;:39.6,&quot;top&quot;:75.6,&quot;width&quot;:882}"/>
</p:tagLst>
</file>

<file path=ppt/tags/tag28.xml><?xml version="1.0" encoding="utf-8"?>
<p:tagLst xmlns:p="http://schemas.openxmlformats.org/presentationml/2006/main">
  <p:tag name="KSO_WM_DIAGRAM_VIRTUALLY_FRAME" val="{&quot;height&quot;:263.91,&quot;left&quot;:39.6,&quot;top&quot;:75.6,&quot;width&quot;:882}"/>
</p:tagLst>
</file>

<file path=ppt/tags/tag29.xml><?xml version="1.0" encoding="utf-8"?>
<p:tagLst xmlns:p="http://schemas.openxmlformats.org/presentationml/2006/main">
  <p:tag name="KSO_WM_DIAGRAM_VIRTUALLY_FRAME" val="{&quot;height&quot;:263.91,&quot;left&quot;:39.6,&quot;top&quot;:75.6,&quot;width&quot;:882}"/>
</p:tagLst>
</file>

<file path=ppt/tags/tag30.xml><?xml version="1.0" encoding="utf-8"?>
<p:tagLst xmlns:p="http://schemas.openxmlformats.org/presentationml/2006/main">
  <p:tag name="KSO_WM_DIAGRAM_VIRTUALLY_FRAME" val="{&quot;height&quot;:263.91,&quot;left&quot;:39.6,&quot;top&quot;:75.6,&quot;width&quot;:882}"/>
</p:tagLst>
</file>

<file path=ppt/tags/tag31.xml><?xml version="1.0" encoding="utf-8"?>
<p:tagLst xmlns:p="http://schemas.openxmlformats.org/presentationml/2006/main">
  <p:tag name="KSO_WM_DIAGRAM_VIRTUALLY_FRAME" val="{&quot;height&quot;:263.91,&quot;left&quot;:39.6,&quot;top&quot;:75.6,&quot;width&quot;:882}"/>
</p:tagLst>
</file>

<file path=ppt/tags/tag32.xml><?xml version="1.0" encoding="utf-8"?>
<p:tagLst xmlns:p="http://schemas.openxmlformats.org/presentationml/2006/main">
  <p:tag name="KSO_WM_DIAGRAM_VIRTUALLY_FRAME" val="{&quot;height&quot;:263.91,&quot;left&quot;:39.6,&quot;top&quot;:75.6,&quot;width&quot;:882}"/>
</p:tagLst>
</file>

<file path=ppt/tags/tag33.xml><?xml version="1.0" encoding="utf-8"?>
<p:tagLst xmlns:p="http://schemas.openxmlformats.org/presentationml/2006/main">
  <p:tag name="KSO_WM_DIAGRAM_VIRTUALLY_FRAME" val="{&quot;height&quot;:263.91,&quot;left&quot;:39.6,&quot;top&quot;:75.6,&quot;width&quot;:882}"/>
</p:tagLst>
</file>

<file path=ppt/tags/tag34.xml><?xml version="1.0" encoding="utf-8"?>
<p:tagLst xmlns:p="http://schemas.openxmlformats.org/presentationml/2006/main">
  <p:tag name="KSO_WM_DIAGRAM_VIRTUALLY_FRAME" val="{&quot;height&quot;:263.91,&quot;left&quot;:39.6,&quot;top&quot;:75.6,&quot;width&quot;:882}"/>
</p:tagLst>
</file>

<file path=ppt/tags/tag35.xml><?xml version="1.0" encoding="utf-8"?>
<p:tagLst xmlns:p="http://schemas.openxmlformats.org/presentationml/2006/main">
  <p:tag name="KSO_WM_DIAGRAM_VIRTUALLY_FRAME" val="{&quot;height&quot;:263.91,&quot;left&quot;:39.6,&quot;top&quot;:75.6,&quot;width&quot;:882}"/>
</p:tagLst>
</file>

<file path=ppt/tags/tag36.xml><?xml version="1.0" encoding="utf-8"?>
<p:tagLst xmlns:p="http://schemas.openxmlformats.org/presentationml/2006/main">
  <p:tag name="KSO_WM_DIAGRAM_VIRTUALLY_FRAME" val="{&quot;height&quot;:263.91,&quot;left&quot;:39.6,&quot;top&quot;:75.6,&quot;width&quot;:882}"/>
</p:tagLst>
</file>

<file path=ppt/tags/tag37.xml><?xml version="1.0" encoding="utf-8"?>
<p:tagLst xmlns:p="http://schemas.openxmlformats.org/presentationml/2006/main">
  <p:tag name="KSO_WM_DIAGRAM_VIRTUALLY_FRAME" val="{&quot;height&quot;:263.91,&quot;left&quot;:39.6,&quot;top&quot;:75.6,&quot;width&quot;:882}"/>
</p:tagLst>
</file>

<file path=ppt/tags/tag38.xml><?xml version="1.0" encoding="utf-8"?>
<p:tagLst xmlns:p="http://schemas.openxmlformats.org/presentationml/2006/main">
  <p:tag name="KSO_WM_DIAGRAM_VIRTUALLY_FRAME" val="{&quot;height&quot;:263.91,&quot;left&quot;:39.6,&quot;top&quot;:75.6,&quot;width&quot;:882}"/>
</p:tagLst>
</file>

<file path=ppt/tags/tag39.xml><?xml version="1.0" encoding="utf-8"?>
<p:tagLst xmlns:p="http://schemas.openxmlformats.org/presentationml/2006/main">
  <p:tag name="KSO_WM_DIAGRAM_VIRTUALLY_FRAME" val="{&quot;height&quot;:263.91,&quot;left&quot;:39.6,&quot;top&quot;:75.6,&quot;width&quot;:882}"/>
</p:tagLst>
</file>

<file path=ppt/tags/tag40.xml><?xml version="1.0" encoding="utf-8"?>
<p:tagLst xmlns:p="http://schemas.openxmlformats.org/presentationml/2006/main">
  <p:tag name="KSO_WM_DIAGRAM_VIRTUALLY_FRAME" val="{&quot;height&quot;:263.91,&quot;left&quot;:39.6,&quot;top&quot;:75.6,&quot;width&quot;:882}"/>
</p:tagLst>
</file>

<file path=ppt/tags/tag41.xml><?xml version="1.0" encoding="utf-8"?>
<p:tagLst xmlns:p="http://schemas.openxmlformats.org/presentationml/2006/main">
  <p:tag name="KSO_WM_DIAGRAM_VIRTUALLY_FRAME" val="{&quot;height&quot;:342.72,&quot;left&quot;:44.64,&quot;top&quot;:74.16,&quot;width&quot;:871.2}"/>
</p:tagLst>
</file>

<file path=ppt/tags/tag42.xml><?xml version="1.0" encoding="utf-8"?>
<p:tagLst xmlns:p="http://schemas.openxmlformats.org/presentationml/2006/main">
  <p:tag name="KSO_WM_DIAGRAM_VIRTUALLY_FRAME" val="{&quot;height&quot;:342.72,&quot;left&quot;:44.64,&quot;top&quot;:74.16,&quot;width&quot;:871.2}"/>
</p:tagLst>
</file>

<file path=ppt/tags/tag43.xml><?xml version="1.0" encoding="utf-8"?>
<p:tagLst xmlns:p="http://schemas.openxmlformats.org/presentationml/2006/main">
  <p:tag name="KSO_WM_DIAGRAM_VIRTUALLY_FRAME" val="{&quot;height&quot;:342.72,&quot;left&quot;:44.64,&quot;top&quot;:74.16,&quot;width&quot;:871.2}"/>
</p:tagLst>
</file>

<file path=ppt/tags/tag44.xml><?xml version="1.0" encoding="utf-8"?>
<p:tagLst xmlns:p="http://schemas.openxmlformats.org/presentationml/2006/main">
  <p:tag name="KSO_WM_DIAGRAM_VIRTUALLY_FRAME" val="{&quot;height&quot;:342.72,&quot;left&quot;:44.64,&quot;top&quot;:74.16,&quot;width&quot;:871.2}"/>
</p:tagLst>
</file>

<file path=ppt/tags/tag45.xml><?xml version="1.0" encoding="utf-8"?>
<p:tagLst xmlns:p="http://schemas.openxmlformats.org/presentationml/2006/main">
  <p:tag name="KSO_WM_DIAGRAM_VIRTUALLY_FRAME" val="{&quot;height&quot;:342.72,&quot;left&quot;:44.64,&quot;top&quot;:74.16,&quot;width&quot;:871.2}"/>
</p:tagLst>
</file>

<file path=ppt/tags/tag46.xml><?xml version="1.0" encoding="utf-8"?>
<p:tagLst xmlns:p="http://schemas.openxmlformats.org/presentationml/2006/main">
  <p:tag name="KSO_WM_DIAGRAM_VIRTUALLY_FRAME" val="{&quot;height&quot;:342.72,&quot;left&quot;:44.64,&quot;top&quot;:74.16,&quot;width&quot;:871.2}"/>
</p:tagLst>
</file>

<file path=ppt/tags/tag47.xml><?xml version="1.0" encoding="utf-8"?>
<p:tagLst xmlns:p="http://schemas.openxmlformats.org/presentationml/2006/main">
  <p:tag name="KSO_WM_DIAGRAM_VIRTUALLY_FRAME" val="{&quot;height&quot;:342.72,&quot;left&quot;:44.64,&quot;top&quot;:74.16,&quot;width&quot;:871.2}"/>
</p:tagLst>
</file>

<file path=ppt/tags/tag48.xml><?xml version="1.0" encoding="utf-8"?>
<p:tagLst xmlns:p="http://schemas.openxmlformats.org/presentationml/2006/main">
  <p:tag name="KSO_WM_DIAGRAM_VIRTUALLY_FRAME" val="{&quot;height&quot;:342.72,&quot;left&quot;:44.64,&quot;top&quot;:74.16,&quot;width&quot;:871.2}"/>
</p:tagLst>
</file>

<file path=ppt/tags/tag49.xml><?xml version="1.0" encoding="utf-8"?>
<p:tagLst xmlns:p="http://schemas.openxmlformats.org/presentationml/2006/main">
  <p:tag name="KSO_WM_DIAGRAM_VIRTUALLY_FRAME" val="{&quot;height&quot;:342.72,&quot;left&quot;:44.64,&quot;top&quot;:74.16,&quot;width&quot;:871.2}"/>
</p:tagLst>
</file>

<file path=ppt/tags/tag50.xml><?xml version="1.0" encoding="utf-8"?>
<p:tagLst xmlns:p="http://schemas.openxmlformats.org/presentationml/2006/main">
  <p:tag name="KSO_WM_DIAGRAM_VIRTUALLY_FRAME" val="{&quot;height&quot;:342.72,&quot;left&quot;:44.64,&quot;top&quot;:74.16,&quot;width&quot;:871.2}"/>
</p:tagLst>
</file>

<file path=ppt/tags/tag51.xml><?xml version="1.0" encoding="utf-8"?>
<p:tagLst xmlns:p="http://schemas.openxmlformats.org/presentationml/2006/main">
  <p:tag name="KSO_WM_DIAGRAM_VIRTUALLY_FRAME" val="{&quot;height&quot;:342.72,&quot;left&quot;:44.64,&quot;top&quot;:74.16,&quot;width&quot;:871.2}"/>
</p:tagLst>
</file>

<file path=ppt/tags/tag52.xml><?xml version="1.0" encoding="utf-8"?>
<p:tagLst xmlns:p="http://schemas.openxmlformats.org/presentationml/2006/main">
  <p:tag name="KSO_WM_DIAGRAM_VIRTUALLY_FRAME" val="{&quot;height&quot;:342.72,&quot;left&quot;:44.64,&quot;top&quot;:74.16,&quot;width&quot;:871.2}"/>
</p:tagLst>
</file>

<file path=ppt/tags/tag53.xml><?xml version="1.0" encoding="utf-8"?>
<p:tagLst xmlns:p="http://schemas.openxmlformats.org/presentationml/2006/main">
  <p:tag name="KSO_WM_DIAGRAM_VIRTUALLY_FRAME" val="{&quot;height&quot;:342.72,&quot;left&quot;:44.64,&quot;top&quot;:74.16,&quot;width&quot;:871.2}"/>
</p:tagLst>
</file>

<file path=ppt/tags/tag54.xml><?xml version="1.0" encoding="utf-8"?>
<p:tagLst xmlns:p="http://schemas.openxmlformats.org/presentationml/2006/main">
  <p:tag name="KSO_WM_DIAGRAM_VIRTUALLY_FRAME" val="{&quot;height&quot;:342.72,&quot;left&quot;:44.64,&quot;top&quot;:74.16,&quot;width&quot;:871.2}"/>
</p:tagLst>
</file>

<file path=ppt/tags/tag55.xml><?xml version="1.0" encoding="utf-8"?>
<p:tagLst xmlns:p="http://schemas.openxmlformats.org/presentationml/2006/main">
  <p:tag name="KSO_WM_DIAGRAM_VIRTUALLY_FRAME" val="{&quot;height&quot;:342.72,&quot;left&quot;:44.64,&quot;top&quot;:74.16,&quot;width&quot;:871.2}"/>
</p:tagLst>
</file>

<file path=ppt/tags/tag56.xml><?xml version="1.0" encoding="utf-8"?>
<p:tagLst xmlns:p="http://schemas.openxmlformats.org/presentationml/2006/main">
  <p:tag name="KSO_WM_DIAGRAM_VIRTUALLY_FRAME" val="{&quot;height&quot;:342.72,&quot;left&quot;:44.64,&quot;top&quot;:74.16,&quot;width&quot;:871.2}"/>
</p:tagLst>
</file>

<file path=ppt/tags/tag57.xml><?xml version="1.0" encoding="utf-8"?>
<p:tagLst xmlns:p="http://schemas.openxmlformats.org/presentationml/2006/main">
  <p:tag name="KSO_WM_DIAGRAM_VIRTUALLY_FRAME" val="{&quot;height&quot;:342.72,&quot;left&quot;:44.64,&quot;top&quot;:74.16,&quot;width&quot;:871.2}"/>
</p:tagLst>
</file>

<file path=ppt/tags/tag58.xml><?xml version="1.0" encoding="utf-8"?>
<p:tagLst xmlns:p="http://schemas.openxmlformats.org/presentationml/2006/main">
  <p:tag name="KSO_WM_DIAGRAM_VIRTUALLY_FRAME" val="{&quot;height&quot;:342.72,&quot;left&quot;:44.64,&quot;top&quot;:74.16,&quot;width&quot;:871.2}"/>
</p:tagLst>
</file>

<file path=ppt/tags/tag59.xml><?xml version="1.0" encoding="utf-8"?>
<p:tagLst xmlns:p="http://schemas.openxmlformats.org/presentationml/2006/main">
  <p:tag name="KSO_WM_DIAGRAM_VIRTUALLY_FRAME" val="{&quot;height&quot;:342.72,&quot;left&quot;:44.64,&quot;top&quot;:74.16,&quot;width&quot;:871.2}"/>
</p:tagLst>
</file>

<file path=ppt/tags/tag60.xml><?xml version="1.0" encoding="utf-8"?>
<p:tagLst xmlns:p="http://schemas.openxmlformats.org/presentationml/2006/main">
  <p:tag name="KSO_WM_DIAGRAM_VIRTUALLY_FRAME" val="{&quot;height&quot;:342.72,&quot;left&quot;:44.64,&quot;top&quot;:74.16,&quot;width&quot;:871.2}"/>
</p:tagLst>
</file>

<file path=ppt/tags/tag61.xml><?xml version="1.0" encoding="utf-8"?>
<p:tagLst xmlns:p="http://schemas.openxmlformats.org/presentationml/2006/main">
  <p:tag name="KSO_WM_DIAGRAM_VIRTUALLY_FRAME" val="{&quot;height&quot;:342.72,&quot;left&quot;:44.64,&quot;top&quot;:74.16,&quot;width&quot;:871.2}"/>
</p:tagLst>
</file>

<file path=ppt/tags/tag62.xml><?xml version="1.0" encoding="utf-8"?>
<p:tagLst xmlns:p="http://schemas.openxmlformats.org/presentationml/2006/main">
  <p:tag name="KSO_WM_DIAGRAM_VIRTUALLY_FRAME" val="{&quot;height&quot;:342.72,&quot;left&quot;:44.64,&quot;top&quot;:74.16,&quot;width&quot;:871.2}"/>
</p:tagLst>
</file>

<file path=ppt/tags/tag63.xml><?xml version="1.0" encoding="utf-8"?>
<p:tagLst xmlns:p="http://schemas.openxmlformats.org/presentationml/2006/main">
  <p:tag name="KSO_WM_DIAGRAM_VIRTUALLY_FRAME" val="{&quot;height&quot;:342.72,&quot;left&quot;:44.64,&quot;top&quot;:74.16,&quot;width&quot;:871.2}"/>
</p:tagLst>
</file>

<file path=ppt/tags/tag64.xml><?xml version="1.0" encoding="utf-8"?>
<p:tagLst xmlns:p="http://schemas.openxmlformats.org/presentationml/2006/main">
  <p:tag name="KSO_WM_DIAGRAM_VIRTUALLY_FRAME" val="{&quot;height&quot;:342.72,&quot;left&quot;:44.64,&quot;top&quot;:74.16,&quot;width&quot;:871.2}"/>
</p:tagLst>
</file>

<file path=ppt/tags/tag65.xml><?xml version="1.0" encoding="utf-8"?>
<p:tagLst xmlns:p="http://schemas.openxmlformats.org/presentationml/2006/main">
  <p:tag name="KSO_WM_DIAGRAM_VIRTUALLY_FRAME" val="{&quot;height&quot;:51.839999999999996,&quot;left&quot;:124.55999999999999,&quot;top&quot;:95.03999999999999,&quot;width&quot;:794.8799999999999}"/>
</p:tagLst>
</file>

<file path=ppt/tags/tag66.xml><?xml version="1.0" encoding="utf-8"?>
<p:tagLst xmlns:p="http://schemas.openxmlformats.org/presentationml/2006/main">
  <p:tag name="KSO_WM_DIAGRAM_VIRTUALLY_FRAME" val="{&quot;height&quot;:51.839999999999996,&quot;left&quot;:124.55999999999999,&quot;top&quot;:95.03999999999999,&quot;width&quot;:794.8799999999999}"/>
</p:tagLst>
</file>

<file path=ppt/tags/tag67.xml><?xml version="1.0" encoding="utf-8"?>
<p:tagLst xmlns:p="http://schemas.openxmlformats.org/presentationml/2006/main">
  <p:tag name="KSO_WM_DIAGRAM_VIRTUALLY_FRAME" val="{&quot;height&quot;:51.839999999999996,&quot;left&quot;:124.55999999999999,&quot;top&quot;:95.03999999999999,&quot;width&quot;:794.8799999999999}"/>
</p:tagLst>
</file>

<file path=ppt/tags/tag68.xml><?xml version="1.0" encoding="utf-8"?>
<p:tagLst xmlns:p="http://schemas.openxmlformats.org/presentationml/2006/main">
  <p:tag name="KSO_WM_DIAGRAM_VIRTUALLY_FRAME" val="{&quot;height&quot;:51.839999999999996,&quot;left&quot;:124.55999999999999,&quot;top&quot;:95.03999999999999,&quot;width&quot;:794.8799999999999}"/>
</p:tagLst>
</file>

<file path=ppt/tags/tag69.xml><?xml version="1.0" encoding="utf-8"?>
<p:tagLst xmlns:p="http://schemas.openxmlformats.org/presentationml/2006/main">
  <p:tag name="KSO_WM_DIAGRAM_VIRTUALLY_FRAME" val="{&quot;height&quot;:51.839999999999996,&quot;left&quot;:124.55999999999999,&quot;top&quot;:95.03999999999999,&quot;width&quot;:794.8799999999999}"/>
</p:tagLst>
</file>

<file path=ppt/tags/tag70.xml><?xml version="1.0" encoding="utf-8"?>
<p:tagLst xmlns:p="http://schemas.openxmlformats.org/presentationml/2006/main">
  <p:tag name="KSO_WM_DIAGRAM_VIRTUALLY_FRAME" val="{&quot;height&quot;:51.839999999999996,&quot;left&quot;:124.55999999999999,&quot;top&quot;:95.03999999999999,&quot;width&quot;:794.8799999999999}"/>
</p:tagLst>
</file>

<file path=ppt/tags/tag71.xml><?xml version="1.0" encoding="utf-8"?>
<p:tagLst xmlns:p="http://schemas.openxmlformats.org/presentationml/2006/main">
  <p:tag name="KSO_WM_DIAGRAM_VIRTUALLY_FRAME" val="{&quot;height&quot;:51.839999999999996,&quot;left&quot;:124.55999999999999,&quot;top&quot;:95.03999999999999,&quot;width&quot;:794.8799999999999}"/>
</p:tagLst>
</file>

<file path=ppt/tags/tag72.xml><?xml version="1.0" encoding="utf-8"?>
<p:tagLst xmlns:p="http://schemas.openxmlformats.org/presentationml/2006/main">
  <p:tag name="KSO_WM_DIAGRAM_VIRTUALLY_FRAME" val="{&quot;height&quot;:51.839999999999996,&quot;left&quot;:124.55999999999999,&quot;top&quot;:95.03999999999999,&quot;width&quot;:794.8799999999999}"/>
</p:tagLst>
</file>

<file path=ppt/tags/tag73.xml><?xml version="1.0" encoding="utf-8"?>
<p:tagLst xmlns:p="http://schemas.openxmlformats.org/presentationml/2006/main">
  <p:tag name="KSO_WM_DIAGRAM_VIRTUALLY_FRAME" val="{&quot;height&quot;:51.839999999999996,&quot;left&quot;:124.55999999999999,&quot;top&quot;:95.03999999999999,&quot;width&quot;:794.8799999999999}"/>
</p:tagLst>
</file>

<file path=ppt/tags/tag74.xml><?xml version="1.0" encoding="utf-8"?>
<p:tagLst xmlns:p="http://schemas.openxmlformats.org/presentationml/2006/main">
  <p:tag name="KSO_WM_DIAGRAM_VIRTUALLY_FRAME" val="{&quot;height&quot;:51.839999999999996,&quot;left&quot;:124.55999999999999,&quot;top&quot;:95.03999999999999,&quot;width&quot;:794.8799999999999}"/>
</p:tagLst>
</file>

<file path=ppt/tags/tag75.xml><?xml version="1.0" encoding="utf-8"?>
<p:tagLst xmlns:p="http://schemas.openxmlformats.org/presentationml/2006/main">
  <p:tag name="KSO_WM_DIAGRAM_VIRTUALLY_FRAME" val="{&quot;height&quot;:51.839999999999996,&quot;left&quot;:124.55999999999999,&quot;top&quot;:95.03999999999999,&quot;width&quot;:794.8799999999999}"/>
</p:tagLst>
</file>

<file path=ppt/tags/tag76.xml><?xml version="1.0" encoding="utf-8"?>
<p:tagLst xmlns:p="http://schemas.openxmlformats.org/presentationml/2006/main">
  <p:tag name="KSO_WM_DIAGRAM_VIRTUALLY_FRAME" val="{&quot;height&quot;:51.839999999999996,&quot;left&quot;:124.55999999999999,&quot;top&quot;:95.03999999999999,&quot;width&quot;:794.8799999999999}"/>
</p:tagLst>
</file>

<file path=ppt/tags/tag77.xml><?xml version="1.0" encoding="utf-8"?>
<p:tagLst xmlns:p="http://schemas.openxmlformats.org/presentationml/2006/main">
  <p:tag name="KSO_WM_DIAGRAM_VIRTUALLY_FRAME" val="{&quot;height&quot;:51.839999999999996,&quot;left&quot;:124.55999999999999,&quot;top&quot;:95.03999999999999,&quot;width&quot;:794.8799999999999}"/>
</p:tagLst>
</file>

<file path=ppt/tags/tag78.xml><?xml version="1.0" encoding="utf-8"?>
<p:tagLst xmlns:p="http://schemas.openxmlformats.org/presentationml/2006/main">
  <p:tag name="KSO_WM_DIAGRAM_VIRTUALLY_FRAME" val="{&quot;height&quot;:51.839999999999996,&quot;left&quot;:124.55999999999999,&quot;top&quot;:95.03999999999999,&quot;width&quot;:794.8799999999999}"/>
</p:tagLst>
</file>

<file path=ppt/tags/tag79.xml><?xml version="1.0" encoding="utf-8"?>
<p:tagLst xmlns:p="http://schemas.openxmlformats.org/presentationml/2006/main">
  <p:tag name="KSO_WM_DIAGRAM_VIRTUALLY_FRAME" val="{&quot;height&quot;:51.839999999999996,&quot;left&quot;:124.55999999999999,&quot;top&quot;:95.03999999999999,&quot;width&quot;:794.8799999999999}"/>
</p:tagLst>
</file>

<file path=ppt/tags/tag80.xml><?xml version="1.0" encoding="utf-8"?>
<p:tagLst xmlns:p="http://schemas.openxmlformats.org/presentationml/2006/main">
  <p:tag name="KSO_WM_DIAGRAM_VIRTUALLY_FRAME" val="{&quot;height&quot;:51.839999999999996,&quot;left&quot;:124.55999999999999,&quot;top&quot;:95.03999999999999,&quot;width&quot;:794.8799999999999}"/>
</p:tagLst>
</file>

<file path=ppt/tags/tag81.xml><?xml version="1.0" encoding="utf-8"?>
<p:tagLst xmlns:p="http://schemas.openxmlformats.org/presentationml/2006/main">
  <p:tag name="KSO_WM_DIAGRAM_VIRTUALLY_FRAME" val="{&quot;height&quot;:51.839999999999996,&quot;left&quot;:124.55999999999999,&quot;top&quot;:95.03999999999999,&quot;width&quot;:794.8799999999999}"/>
</p:tagLst>
</file>

<file path=ppt/tags/tag82.xml><?xml version="1.0" encoding="utf-8"?>
<p:tagLst xmlns:p="http://schemas.openxmlformats.org/presentationml/2006/main">
  <p:tag name="KSO_WM_DIAGRAM_VIRTUALLY_FRAME" val="{&quot;height&quot;:51.839999999999996,&quot;left&quot;:124.55999999999999,&quot;top&quot;:95.03999999999999,&quot;width&quot;:794.8799999999999}"/>
</p:tagLst>
</file>

<file path=ppt/theme/theme1.xml><?xml version="1.0" encoding="utf-8"?>
<a:theme xmlns:a="http://schemas.openxmlformats.org/drawingml/2006/main" name="IntentTheme">
  <a:themeElements>
    <a:clrScheme name="IntentColors">
      <a:dk1>
        <a:srgbClr val="172026"/>
      </a:dk1>
      <a:lt1>
        <a:srgbClr val="FFFFFF"/>
      </a:lt1>
      <a:dk2>
        <a:srgbClr val="172C3C"/>
      </a:dk2>
      <a:lt2>
        <a:srgbClr val="F4F7F9"/>
      </a:lt2>
      <a:accent1>
        <a:srgbClr val="19788A"/>
      </a:accent1>
      <a:accent2>
        <a:srgbClr val="D8A23A"/>
      </a:accent2>
      <a:accent3>
        <a:srgbClr val="1E8A5A"/>
      </a:accent3>
      <a:accent4>
        <a:srgbClr val="B84A3A"/>
      </a:accent4>
      <a:accent5>
        <a:srgbClr val="60707A"/>
      </a:accent5>
      <a:accent6>
        <a:srgbClr val="D6E0E6"/>
      </a:accent6>
      <a:hlink>
        <a:srgbClr val="19788A"/>
      </a:hlink>
      <a:folHlink>
        <a:srgbClr val="0E6674"/>
      </a:folHlink>
    </a:clrScheme>
    <a:fontScheme name="IntentFonts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IntentForma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  <a:ln/>
        <a:ln/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2453</Words>
  <Application>WPS 演示</Application>
  <PresentationFormat>On-screen Show (16:9)</PresentationFormat>
  <Paragraphs>272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Arial</vt:lpstr>
      <vt:lpstr>宋体</vt:lpstr>
      <vt:lpstr>Wingdings</vt:lpstr>
      <vt:lpstr>微软雅黑</vt:lpstr>
      <vt:lpstr>Arial Unicode MS</vt:lpstr>
      <vt:lpstr>Calibri</vt:lpstr>
      <vt:lpstr>IntentTheme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Intent Analysis Engine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自然语言意图分析引擎项目汇报</dc:title>
  <dc:creator>Codex</dc:creator>
  <cp:lastModifiedBy>W·K Demon</cp:lastModifiedBy>
  <cp:revision>2</cp:revision>
  <dcterms:created xsi:type="dcterms:W3CDTF">2026-07-10T15:45:25Z</dcterms:created>
  <dcterms:modified xsi:type="dcterms:W3CDTF">2026-07-10T15:48:31Z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DB248BC8306C45B99322477527CD6E01_12</vt:lpwstr>
  </property>
</Properties>
</file>